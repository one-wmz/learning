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68" r:id="rId3"/>
    <p:sldId id="269" r:id="rId4"/>
    <p:sldId id="260" r:id="rId5"/>
    <p:sldId id="265" r:id="rId6"/>
    <p:sldId id="264" r:id="rId7"/>
    <p:sldId id="259" r:id="rId8"/>
    <p:sldId id="258" r:id="rId9"/>
    <p:sldId id="271" r:id="rId10"/>
    <p:sldId id="270" r:id="rId11"/>
    <p:sldId id="267" r:id="rId12"/>
    <p:sldId id="266" r:id="rId13"/>
    <p:sldId id="272" r:id="rId14"/>
    <p:sldId id="257" r:id="rId15"/>
    <p:sldId id="263" r:id="rId16"/>
    <p:sldId id="261" r:id="rId17"/>
    <p:sldId id="262" r:id="rId18"/>
    <p:sldId id="275" r:id="rId19"/>
    <p:sldId id="273" r:id="rId20"/>
    <p:sldId id="274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FF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546" autoAdjust="0"/>
  </p:normalViewPr>
  <p:slideViewPr>
    <p:cSldViewPr snapToGrid="0">
      <p:cViewPr varScale="1">
        <p:scale>
          <a:sx n="92" d="100"/>
          <a:sy n="92" d="100"/>
        </p:scale>
        <p:origin x="7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BBDC58-AC99-4FB9-A3EE-F0892B16FD98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527AE5-DBB6-4CAD-8BBA-3FF4CC56C6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9124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csdn.net/zyb228/article/details/101163540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zhuanlan.zhihu.com/p/665910816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Wen_</a:t>
            </a:r>
          </a:p>
          <a:p>
            <a:pPr algn="l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: 2026.04.0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527AE5-DBB6-4CAD-8BBA-3FF4CC56C68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16501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527AE5-DBB6-4CAD-8BBA-3FF4CC56C68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66448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39BCE-F6B3-F925-B3A7-E622AD075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8098FD0-3466-FFC7-D13C-122E19EB78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8D0902C-BF0B-0C29-6F68-4991520535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hlinkClick r:id="rId3"/>
              </a:rPr>
              <a:t>共空间模式 </a:t>
            </a:r>
            <a:r>
              <a:rPr lang="en-US" altLang="zh-CN" dirty="0">
                <a:hlinkClick r:id="rId3"/>
              </a:rPr>
              <a:t>Common Spatial Pattern(CSP)</a:t>
            </a:r>
            <a:r>
              <a:rPr lang="zh-CN" altLang="en-US" dirty="0">
                <a:hlinkClick r:id="rId3"/>
              </a:rPr>
              <a:t>原理和实战</a:t>
            </a:r>
            <a:r>
              <a:rPr lang="en-US" altLang="zh-CN" dirty="0">
                <a:hlinkClick r:id="rId3"/>
              </a:rPr>
              <a:t>-CSDN</a:t>
            </a:r>
            <a:r>
              <a:rPr lang="zh-CN" altLang="en-US" dirty="0">
                <a:hlinkClick r:id="rId3"/>
              </a:rPr>
              <a:t>博客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D8C81FF-1153-65FB-1B50-85E95228E6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527AE5-DBB6-4CAD-8BBA-3FF4CC56C68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6368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527AE5-DBB6-4CAD-8BBA-3FF4CC56C68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00148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527AE5-DBB6-4CAD-8BBA-3FF4CC56C68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11638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PCA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旨在找到正交、不相关的主成分，而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ICA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专门寻找独立的成分</a:t>
            </a:r>
            <a:br>
              <a:rPr lang="zh-CN" altLang="en-US" dirty="0"/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PCA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中找到的主成分是正交的，它们之间仍可能存在某些相关性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非线性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br>
              <a:rPr lang="zh-CN" altLang="en-US" dirty="0"/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ICA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中找到的主成分是独立的，因为它们在统计上没有任何关系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dirty="0">
                <a:hlinkClick r:id="rId3"/>
              </a:rPr>
              <a:t>主成分分析</a:t>
            </a:r>
            <a:r>
              <a:rPr lang="en-US" altLang="zh-CN" dirty="0">
                <a:hlinkClick r:id="rId3"/>
              </a:rPr>
              <a:t>(PCA)</a:t>
            </a:r>
            <a:r>
              <a:rPr lang="zh-CN" altLang="en-US" dirty="0">
                <a:hlinkClick r:id="rId3"/>
              </a:rPr>
              <a:t>与独立成分分析</a:t>
            </a:r>
            <a:r>
              <a:rPr lang="en-US" altLang="zh-CN" dirty="0">
                <a:hlinkClick r:id="rId3"/>
              </a:rPr>
              <a:t>(ICA) - </a:t>
            </a:r>
            <a:r>
              <a:rPr lang="zh-CN" altLang="en-US" dirty="0">
                <a:hlinkClick r:id="rId3"/>
              </a:rPr>
              <a:t>知乎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527AE5-DBB6-4CAD-8BBA-3FF4CC56C68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43914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帕塞瓦尔定理（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Parseval‘s theorem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）：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信号的能量在时域和频域相等（函数平方的和等于其傅里叶转换式平方之和）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维纳辛钦定理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指出，随机信号的相关函数与它的功率谱是一对傅里叶变换对。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dirty="0"/>
          </a:p>
          <a:p>
            <a:r>
              <a:rPr lang="zh-CN" altLang="en-US" dirty="0"/>
              <a:t>信号和的功率谱不一定等于功率谱的和。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527AE5-DBB6-4CAD-8BBA-3FF4CC56C681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36059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Delta</a:t>
            </a:r>
            <a:r>
              <a:rPr lang="zh-CN" altLang="en-US" dirty="0"/>
              <a:t>频段</a:t>
            </a:r>
            <a:r>
              <a:rPr lang="en-US" altLang="zh-CN" dirty="0"/>
              <a:t>(1</a:t>
            </a:r>
            <a:r>
              <a:rPr lang="zh-CN" altLang="en-US" dirty="0"/>
              <a:t>一</a:t>
            </a:r>
            <a:r>
              <a:rPr lang="en-US" altLang="zh-CN" dirty="0"/>
              <a:t>4Hz)</a:t>
            </a:r>
          </a:p>
          <a:p>
            <a:r>
              <a:rPr lang="en-US" altLang="zh-CN" dirty="0"/>
              <a:t>Theta</a:t>
            </a:r>
            <a:r>
              <a:rPr lang="zh-CN" altLang="en-US" dirty="0"/>
              <a:t>频段</a:t>
            </a:r>
            <a:r>
              <a:rPr lang="en-US" altLang="zh-CN" dirty="0"/>
              <a:t>(4</a:t>
            </a:r>
            <a:r>
              <a:rPr lang="zh-CN" altLang="en-US" dirty="0"/>
              <a:t>一</a:t>
            </a:r>
            <a:r>
              <a:rPr lang="en-US" altLang="zh-CN" dirty="0"/>
              <a:t>8Hz)</a:t>
            </a:r>
          </a:p>
          <a:p>
            <a:r>
              <a:rPr lang="en-US" altLang="zh-CN" dirty="0"/>
              <a:t>Alpha </a:t>
            </a:r>
            <a:r>
              <a:rPr lang="zh-CN" altLang="en-US" dirty="0"/>
              <a:t>频段</a:t>
            </a:r>
            <a:r>
              <a:rPr lang="en-US" altLang="zh-CN" dirty="0"/>
              <a:t>(8</a:t>
            </a:r>
            <a:r>
              <a:rPr lang="zh-CN" altLang="en-US" dirty="0"/>
              <a:t>一</a:t>
            </a:r>
            <a:r>
              <a:rPr lang="en-US" altLang="zh-CN" dirty="0"/>
              <a:t>13Hz)</a:t>
            </a:r>
          </a:p>
          <a:p>
            <a:r>
              <a:rPr lang="en-US" altLang="zh-CN" dirty="0"/>
              <a:t>Beta </a:t>
            </a:r>
            <a:r>
              <a:rPr lang="zh-CN" altLang="en-US" dirty="0"/>
              <a:t>频段</a:t>
            </a:r>
            <a:r>
              <a:rPr lang="en-US" altLang="zh-CN" dirty="0"/>
              <a:t>(13</a:t>
            </a:r>
            <a:r>
              <a:rPr lang="zh-CN" altLang="en-US" dirty="0"/>
              <a:t>一</a:t>
            </a:r>
            <a:r>
              <a:rPr lang="en-US" altLang="zh-CN" dirty="0"/>
              <a:t>30Hz)</a:t>
            </a:r>
          </a:p>
          <a:p>
            <a:r>
              <a:rPr lang="en-US" altLang="zh-CN" dirty="0"/>
              <a:t>Gamma </a:t>
            </a:r>
            <a:r>
              <a:rPr lang="zh-CN" altLang="en-US" dirty="0"/>
              <a:t>频段</a:t>
            </a:r>
            <a:r>
              <a:rPr lang="en-US" altLang="zh-CN" dirty="0"/>
              <a:t>(30</a:t>
            </a:r>
            <a:r>
              <a:rPr lang="zh-CN" altLang="en-US" dirty="0"/>
              <a:t>一</a:t>
            </a:r>
            <a:r>
              <a:rPr lang="en-US" altLang="zh-CN" dirty="0"/>
              <a:t>50Hz)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527AE5-DBB6-4CAD-8BBA-3FF4CC56C681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49970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IMF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：反映了数据的振荡模式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IMFs included in the signal: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𝑐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1(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𝑡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𝑐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2(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𝑡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),…,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𝑐𝑞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𝑡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527AE5-DBB6-4CAD-8BBA-3FF4CC56C681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34265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pupil diameter (PD)</a:t>
            </a:r>
          </a:p>
          <a:p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bands: </a:t>
            </a:r>
          </a:p>
          <a:p>
            <a:pPr lvl="0"/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ultra-low frequency (0–1 Hz)</a:t>
            </a:r>
          </a:p>
          <a:p>
            <a:pPr lvl="0"/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very low frequency (1–3 Hz)</a:t>
            </a:r>
          </a:p>
          <a:p>
            <a:pPr lvl="0"/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low frequency (3– 6 Hz)</a:t>
            </a:r>
          </a:p>
          <a:p>
            <a:pPr lvl="0"/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high frequency (6–10 Hz)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527AE5-DBB6-4CAD-8BBA-3FF4CC56C681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06345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CCC899-CB4C-7ED2-F9CB-627CC52BA8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F166DA5-F33E-D2CB-1AD3-6C3DD7903C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A3D2C1-44B4-08F1-6017-DFC3F8279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4E713-690B-40B2-BFA9-DC11C1297145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8DA557-CD72-7E2B-579E-53CF37CD0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AD671A-A3DD-4313-562A-3F825D1C8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1F1CA-8308-4930-8103-68EFCBFA23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994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BF0736-C4C3-4D4C-D767-ABA58CBFB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78C5FB-A1D8-33C6-32D7-1A287E879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C7873E-3DE2-4141-0CF7-5E0F7684E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4E713-690B-40B2-BFA9-DC11C1297145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539FE8-AA78-AB53-8A12-66BA9CB91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6579B0-1C68-3BA4-16FB-35F87AC22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1F1CA-8308-4930-8103-68EFCBFA23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0923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649C5A-ACF5-850B-24B3-2A76C7C77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4FAF91-108C-3F02-B3B1-9267CFAEC6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1F2312-8B89-3F4B-7BBB-44FCB6911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4E713-690B-40B2-BFA9-DC11C1297145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639062-A636-71BC-4961-41622E8AD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9724D1-1703-1E95-D5A9-487B8B434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1F1CA-8308-4930-8103-68EFCBFA23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3614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077F7D-7A41-B6B6-7A92-9F3689FF6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E68E25-12AC-8711-035F-58F40AE327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74AA1ED-DA13-32FE-44D3-0B71A4F6F2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C5DE617-0A96-323C-775D-26C33A6AB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4E713-690B-40B2-BFA9-DC11C1297145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9565A20-C419-6A33-9843-B38B13F39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7458D0B-878C-C310-6ADF-2F1A9F698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1F1CA-8308-4930-8103-68EFCBFA23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0046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25A205-8828-B9AA-7C5E-FBDA6FB64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2421439-449D-19F2-3515-9043CEA7BF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FD6F884-EAE6-8862-C17E-275C0E9FE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524ECD1-3988-9370-FC58-8B4DE4BE15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8E7ECCA-E990-55CB-B490-7EC181584D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2FD9A6B-C173-6A3B-2569-C518CC181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4E713-690B-40B2-BFA9-DC11C1297145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72E28B5-17E5-CD7D-1F89-BA663AC97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C856AA8-B656-7F8F-F422-8C8392B0B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1F1CA-8308-4930-8103-68EFCBFA23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4315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D894C0-FDDC-B2BE-4886-067980E03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A9C81D6-B0C2-7030-F0EF-78510B5A6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4E713-690B-40B2-BFA9-DC11C1297145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ED1BD99-CDA3-BE7A-7653-9256E0DAE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80D6900-2CE0-FF24-B223-08AD1A61F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1F1CA-8308-4930-8103-68EFCBFA23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3469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F9BA4DF-DD52-166D-B270-B1D541BE1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4E713-690B-40B2-BFA9-DC11C1297145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2CABAF4-D329-FAB7-7BA5-EF366EACB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BF2CCA-9018-743D-C633-D3BE4BA56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1F1CA-8308-4930-8103-68EFCBFA23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5680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972039-EF69-5373-D9C5-314835A64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9F0FA7-EAF9-69B1-22F2-26F30F3540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7479853-0EF7-8600-DEBE-12C7C9CC1A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9BADA6-5BAE-77C5-C2A0-930EBE669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4E713-690B-40B2-BFA9-DC11C1297145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0488AC-C805-053B-3BF5-858A2D687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4F4F76D-C7D9-35D7-ABC4-777205229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1F1CA-8308-4930-8103-68EFCBFA23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5737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C705BE-0D71-47D3-B57E-4D23A92FC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8DB83AB-10F5-2D5C-8FE5-09DF7DBF8C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DF7156A-A117-91FF-0A9D-3A31D82AC9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3D0536F-2255-391F-F3D7-A480D28DF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4E713-690B-40B2-BFA9-DC11C1297145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0AE8479-29C4-E8FB-F446-FBF13191C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A79A2A2-971D-C0FC-E62F-C3F561AA8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1F1CA-8308-4930-8103-68EFCBFA23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9664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4C7D38-A73B-BB3B-FFE1-B40C0967B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67407FA-5DAB-84B2-7BAC-EF120CB4DD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442319-E328-A0BE-5721-948F881ED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4E713-690B-40B2-BFA9-DC11C1297145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3D5205-F15C-B21D-B34E-86FB26CC8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520D1B-3135-8654-93E4-22723D5EF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1F1CA-8308-4930-8103-68EFCBFA23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1561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49B68F3-05F2-88D1-C95A-8608FCD4FC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9C850BD-5FA2-7911-3DCB-258408032E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172286-D98D-E67A-2CB1-8CDEAB107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4E713-690B-40B2-BFA9-DC11C1297145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4AC196-BC97-8A76-CE04-CFE5827C5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F28CA4-86D3-9585-0E2F-DC75B29E1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1F1CA-8308-4930-8103-68EFCBFA23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2266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9B1D3CC-69A2-2282-A739-2C6E3A0C3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EF4DEC5-B442-9060-899F-3A5D75E4AF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D6AB53-C632-14FC-8A93-EBC1B43765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C4E713-690B-40B2-BFA9-DC11C1297145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F3083A-2449-EA59-DA75-585266673D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E87A04-CC76-E7C1-A4FF-D1D320298B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1F1CA-8308-4930-8103-68EFCBFA23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3999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3" Type="http://schemas.openxmlformats.org/officeDocument/2006/relationships/slide" Target="slide4.xml"/><Relationship Id="rId7" Type="http://schemas.openxmlformats.org/officeDocument/2006/relationships/slide" Target="slide2.xml"/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1.xml"/><Relationship Id="rId5" Type="http://schemas.openxmlformats.org/officeDocument/2006/relationships/slide" Target="slide12.xml"/><Relationship Id="rId4" Type="http://schemas.openxmlformats.org/officeDocument/2006/relationships/slide" Target="slide6.xml"/><Relationship Id="rId9" Type="http://schemas.openxmlformats.org/officeDocument/2006/relationships/slide" Target="slide10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" Target="slide15.xml"/><Relationship Id="rId3" Type="http://schemas.openxmlformats.org/officeDocument/2006/relationships/hyperlink" Target="https://acs.pollub.pl/pdf/v20n4/5.pdf" TargetMode="External"/><Relationship Id="rId7" Type="http://schemas.openxmlformats.org/officeDocument/2006/relationships/slide" Target="slide1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slide" Target="slide8.xml"/><Relationship Id="rId5" Type="http://schemas.openxmlformats.org/officeDocument/2006/relationships/slide" Target="slide7.xml"/><Relationship Id="rId4" Type="http://schemas.openxmlformats.org/officeDocument/2006/relationships/slide" Target="slide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slide" Target="slide1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02D9AE-6FF6-D1FD-03F8-222618B6E2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信号分析与处理</a:t>
            </a:r>
          </a:p>
        </p:txBody>
      </p:sp>
    </p:spTree>
    <p:extLst>
      <p:ext uri="{BB962C8B-B14F-4D97-AF65-F5344CB8AC3E}">
        <p14:creationId xmlns:p14="http://schemas.microsoft.com/office/powerpoint/2010/main" val="1679568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DC20D2-6F7D-CCE9-2DDA-736B0F8C4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Canonical Correlation Analysis (CCA)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8E57C69-2DB2-B9BA-5D03-03ADB3435B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zh-CN" altLang="en-US" dirty="0">
                    <a:latin typeface="Adobe 黑体 Std R" panose="020B0400000000000000" pitchFamily="34" charset="-122"/>
                    <a:ea typeface="Adobe 黑体 Std R" panose="020B0400000000000000" pitchFamily="34" charset="-122"/>
                  </a:rPr>
                  <a:t>典型相关分析</a:t>
                </a:r>
                <a:endParaRPr lang="en-US" altLang="zh-CN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CCA 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是一种多变量统计方法，用于衡量两组信号之间的线性相关性。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zh-CN" altLang="en-US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主要应用：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SSVEP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（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EEG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）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100000"/>
                  </a:lnSpc>
                  <a:spcAft>
                    <a:spcPts val="1200"/>
                  </a:spcAft>
                </a:pPr>
                <a:r>
                  <a:rPr lang="zh-CN" altLang="en-US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算法流程：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计算：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X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方差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𝑆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𝑥𝑥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)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，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Y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方差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𝑆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𝑦𝑦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) 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，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XY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的协方差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𝑆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) 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；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使用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SVD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求：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𝑆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𝑥𝑥</m:t>
                        </m:r>
                      </m:sub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fPr>
                          <m:num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𝑆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𝑥𝑦</m:t>
                        </m:r>
                      </m:sub>
                    </m:sSub>
                    <m:sSubSup>
                      <m:sSub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𝑆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𝑦𝑦</m:t>
                        </m:r>
                      </m:sub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fPr>
                          <m:num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20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𝑇</m:t>
                        </m:r>
                      </m:sup>
                    </m:sSubSup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𝑈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𝑉</m:t>
                        </m:r>
                      </m:e>
                    </m:nary>
                  </m:oMath>
                </a14:m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找到最大特征值和对应的特征向量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和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V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，并计算出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和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：</a:t>
                </a:r>
                <a:r>
                  <a:rPr lang="en-US" altLang="zh-CN" sz="2000" dirty="0">
                    <a:ea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𝑎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=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𝑆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𝑥𝑥</m:t>
                        </m:r>
                      </m:sub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fPr>
                          <m:num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20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𝑇</m:t>
                        </m:r>
                      </m:sup>
                    </m:sSubSup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𝑈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,  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𝑏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sSubSup>
                      <m:sSub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𝑆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𝑦𝑦</m:t>
                        </m:r>
                      </m:sub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fPr>
                          <m:num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20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𝑇</m:t>
                        </m:r>
                      </m:sup>
                    </m:sSubSup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𝑉</m:t>
                    </m:r>
                  </m:oMath>
                </a14:m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8E57C69-2DB2-B9BA-5D03-03ADB3435B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14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2763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5591F-5A5F-5443-1AD4-D68B7048D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6A8A45-6E08-F87A-9406-BA717AB5E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Spatial Pattern (CSP)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E7357E-7AE3-7455-AFDF-0E95878BF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共空间模式</a:t>
            </a:r>
            <a:endParaRPr lang="en-US" altLang="zh-CN" dirty="0"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利用矩阵的对角化，找到一组最优空间滤波器进行投影，使得两类信号的方差值差异最大化，从而得到具有较高区分度的特征向量。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主要应用：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MI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EEG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endParaRPr lang="en-US" altLang="zh-CN" dirty="0"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dirty="0"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24036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69F490-ECEE-A73F-A173-C0A0F9A14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Z-Score Normalization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D53ABA4-B10E-31FD-C9DD-12449AB573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219575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latin typeface="Adobe 黑体 Std R" panose="020B0400000000000000" pitchFamily="34" charset="-122"/>
                    <a:ea typeface="Adobe 黑体 Std R" panose="020B0400000000000000" pitchFamily="34" charset="-122"/>
                  </a:rPr>
                  <a:t>Z </a:t>
                </a:r>
                <a:r>
                  <a:rPr lang="zh-CN" altLang="en-US" dirty="0">
                    <a:latin typeface="Adobe 黑体 Std R" panose="020B0400000000000000" pitchFamily="34" charset="-122"/>
                    <a:ea typeface="Adobe 黑体 Std R" panose="020B0400000000000000" pitchFamily="34" charset="-122"/>
                  </a:rPr>
                  <a:t>分数归一化</a:t>
                </a:r>
                <a:endParaRPr lang="en-US" altLang="zh-CN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𝑍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Adobe 黑体 Std R" panose="020B0400000000000000" pitchFamily="34" charset="-122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Adobe 黑体 Std R" panose="020B0400000000000000" pitchFamily="34" charset="-122"/>
                            </a:rPr>
                            <m:t>𝑋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Adobe 黑体 Std R" panose="020B0400000000000000" pitchFamily="34" charset="-122"/>
                            </a:rPr>
                            <m:t>−</m:t>
                          </m:r>
                          <m:r>
                            <a:rPr lang="zh-CN" altLang="en-US" b="0" i="1" smtClean="0">
                              <a:latin typeface="Cambria Math" panose="02040503050406030204" pitchFamily="18" charset="0"/>
                              <a:ea typeface="Adobe 黑体 Std R" panose="020B0400000000000000" pitchFamily="34" charset="-122"/>
                            </a:rPr>
                            <m:t>𝜇</m:t>
                          </m:r>
                        </m:num>
                        <m:den>
                          <m:r>
                            <a:rPr lang="zh-CN" altLang="en-US" b="0" i="1" smtClean="0">
                              <a:latin typeface="Cambria Math" panose="02040503050406030204" pitchFamily="18" charset="0"/>
                              <a:ea typeface="Adobe 黑体 Std R" panose="020B0400000000000000" pitchFamily="34" charset="-122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endParaRPr lang="en-US" altLang="zh-CN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  <a:p>
                <a:pPr lvl="1"/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mean </a:t>
                </a:r>
                <a:r>
                  <a:rPr lang="el-GR" altLang="zh-CN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μ</a:t>
                </a:r>
                <a:endPara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standard deviation </a:t>
                </a:r>
                <a:r>
                  <a:rPr lang="el-GR" altLang="zh-CN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σ</a:t>
                </a:r>
                <a:endPara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en-US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D53ABA4-B10E-31FD-C9DD-12449AB573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219575"/>
              </a:xfrm>
              <a:blipFill>
                <a:blip r:embed="rId3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5473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F1077E-CB7D-D016-143E-5A80F0195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Band Filter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0CAB40-997C-55C4-97E8-2F44EB952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概念：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一种在一定频率范围内允许信号通过，同时阻止其他频率信号通过的滤波器。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低通滤波器（</a:t>
            </a:r>
            <a:r>
              <a:rPr lang="en-US" altLang="zh-CN" sz="2000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low-pass filter</a:t>
            </a:r>
            <a:r>
              <a:rPr lang="zh-CN" altLang="en-US" sz="2000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）</a:t>
            </a:r>
            <a:endParaRPr lang="en-US" altLang="zh-CN" sz="2000" dirty="0"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高通滤波器（</a:t>
            </a:r>
            <a:r>
              <a:rPr lang="en-US" altLang="zh-CN" sz="2000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High-pass filter</a:t>
            </a:r>
            <a:r>
              <a:rPr lang="zh-CN" altLang="en-US" sz="2000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114574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80D300-12BE-0DA2-4D8A-BECD3D70E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Notch Filter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A8BF42-DEC6-0626-4218-DD6275015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概念：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对某一特定频率或极窄频率范围的信号进行大幅度衰减，同时允许该频率以外的其他信号几乎无损耗地通过。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显著特征：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阻带极窄、选择性极高，通常仅针对单个频率点或几赫兹范围内的信号进行抑制。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案例：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50Hz/60Hz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工频干扰（精准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剔除”）</a:t>
            </a:r>
          </a:p>
        </p:txBody>
      </p:sp>
    </p:spTree>
    <p:extLst>
      <p:ext uri="{BB962C8B-B14F-4D97-AF65-F5344CB8AC3E}">
        <p14:creationId xmlns:p14="http://schemas.microsoft.com/office/powerpoint/2010/main" val="335595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B7D265-8F47-72DB-2FD3-749FE42CE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Median Filtering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95F164B-8257-CF67-6B32-4956E6BD53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>
                    <a:latin typeface="Adobe 黑体 Std R" panose="020B0400000000000000" pitchFamily="34" charset="-122"/>
                    <a:ea typeface="Adobe 黑体 Std R" panose="020B0400000000000000" pitchFamily="34" charset="-122"/>
                  </a:rPr>
                  <a:t>中值滤波</a:t>
                </a:r>
                <a:endParaRPr lang="en-US" altLang="zh-CN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altLang="zh-CN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Adobe 黑体 Std R" panose="020B0400000000000000" pitchFamily="34" charset="-122"/>
                    <a:cs typeface="Times New Roman" panose="02020603050405020304" pitchFamily="18" charset="0"/>
                  </a:rPr>
                  <a:t>reduce random noise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Adobe 黑体 Std R" panose="020B0400000000000000" pitchFamily="34" charset="-122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Adobe 黑体 Std R" panose="020B0400000000000000" pitchFamily="34" charset="-122"/>
                    <a:cs typeface="Times New Roman" panose="02020603050405020304" pitchFamily="18" charset="0"/>
                  </a:rPr>
                  <a:t>enhance signal quality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Adobe 黑体 Std R" panose="020B0400000000000000" pitchFamily="34" charset="-122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Adobe 黑体 Std R" panose="020B0400000000000000" pitchFamily="34" charset="-122"/>
                    <a:cs typeface="Times New Roman" panose="02020603050405020304" pitchFamily="18" charset="0"/>
                  </a:rPr>
                  <a:t>identify key trends and patterns</a:t>
                </a: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altLang="zh-CN" sz="2400" dirty="0">
                    <a:latin typeface="Times New Roman" panose="02020603050405020304" pitchFamily="18" charset="0"/>
                    <a:ea typeface="Adobe 黑体 Std R" panose="020B0400000000000000" pitchFamily="34" charset="-122"/>
                    <a:cs typeface="Times New Roman" panose="02020603050405020304" pitchFamily="18" charset="0"/>
                  </a:rPr>
                  <a:t>address eye blinks, which cause sudden PD declines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altLang="zh-CN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Adobe 黑体 Std R" panose="020B0400000000000000" pitchFamily="34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Adobe 黑体 Std R" panose="020B0400000000000000" pitchFamily="34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Adobe 黑体 Std R" panose="020B0400000000000000" pitchFamily="34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lang="pt-BR" altLang="zh-CN" sz="2400" i="1">
                          <a:latin typeface="Cambria Math" panose="02040503050406030204" pitchFamily="18" charset="0"/>
                          <a:ea typeface="Adobe 黑体 Std R" panose="020B0400000000000000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pt-BR" altLang="zh-CN" sz="2400" i="1">
                          <a:latin typeface="Cambria Math" panose="02040503050406030204" pitchFamily="18" charset="0"/>
                          <a:ea typeface="Adobe 黑体 Std R" panose="020B0400000000000000" pitchFamily="34" charset="-122"/>
                          <a:cs typeface="Times New Roman" panose="02020603050405020304" pitchFamily="18" charset="0"/>
                        </a:rPr>
                        <m:t>𝑚𝑒𝑑𝑖𝑎𝑛</m:t>
                      </m:r>
                      <m:r>
                        <a:rPr lang="pt-BR" altLang="zh-CN" sz="2400" i="1">
                          <a:latin typeface="Cambria Math" panose="02040503050406030204" pitchFamily="18" charset="0"/>
                          <a:ea typeface="Adobe 黑体 Std R" panose="020B0400000000000000" pitchFamily="34" charset="-122"/>
                          <a:cs typeface="Times New Roman" panose="02020603050405020304" pitchFamily="18" charset="0"/>
                        </a:rPr>
                        <m:t>{</m:t>
                      </m:r>
                      <m:sSub>
                        <m:sSubPr>
                          <m:ctrlPr>
                            <a:rPr lang="pt-BR" altLang="zh-CN" sz="2400" i="1">
                              <a:latin typeface="Cambria Math" panose="02040503050406030204" pitchFamily="18" charset="0"/>
                              <a:ea typeface="Adobe 黑体 Std R" panose="020B0400000000000000" pitchFamily="34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Adobe 黑体 Std R" panose="020B0400000000000000" pitchFamily="34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Adobe 黑体 Std R" panose="020B0400000000000000" pitchFamily="34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Adobe 黑体 Std R" panose="020B0400000000000000" pitchFamily="34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Adobe 黑体 Std R" panose="020B0400000000000000" pitchFamily="34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pt-BR" altLang="zh-CN" sz="2400" i="1">
                              <a:latin typeface="Cambria Math" panose="02040503050406030204" pitchFamily="18" charset="0"/>
                              <a:ea typeface="Adobe 黑体 Std R" panose="020B0400000000000000" pitchFamily="34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Adobe 黑体 Std R" panose="020B0400000000000000" pitchFamily="34" charset="-122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Adobe 黑体 Std R" panose="020B0400000000000000" pitchFamily="34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Adobe 黑体 Std R" panose="020B0400000000000000" pitchFamily="34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Adobe 黑体 Std R" panose="020B0400000000000000" pitchFamily="34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Adobe 黑体 Std R" panose="020B0400000000000000" pitchFamily="34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Adobe 黑体 Std R" panose="020B0400000000000000" pitchFamily="34" charset="-122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  <m:r>
                        <a:rPr lang="pt-BR" altLang="zh-CN" sz="2400" i="1">
                          <a:latin typeface="Cambria Math" panose="02040503050406030204" pitchFamily="18" charset="0"/>
                          <a:ea typeface="Adobe 黑体 Std R" panose="020B0400000000000000" pitchFamily="34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pt-BR" altLang="zh-CN" sz="2400" i="1">
                          <a:latin typeface="Cambria Math" panose="02040503050406030204" pitchFamily="18" charset="0"/>
                          <a:ea typeface="Adobe 黑体 Std R" panose="020B0400000000000000" pitchFamily="34" charset="-122"/>
                          <a:cs typeface="Times New Roman" panose="02020603050405020304" pitchFamily="18" charset="0"/>
                        </a:rPr>
                        <m:t>...,</m:t>
                      </m:r>
                      <m:sSub>
                        <m:sSubPr>
                          <m:ctrlPr>
                            <a:rPr lang="pt-BR" altLang="zh-CN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Adobe 黑体 Std R" panose="020B0400000000000000" pitchFamily="34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Adobe 黑体 Std R" panose="020B0400000000000000" pitchFamily="34" charset="-122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Adobe 黑体 Std R" panose="020B0400000000000000" pitchFamily="34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Adobe 黑体 Std R" panose="020B0400000000000000" pitchFamily="34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lang="pt-BR" altLang="zh-CN" sz="2400" i="1">
                          <a:latin typeface="Cambria Math" panose="02040503050406030204" pitchFamily="18" charset="0"/>
                          <a:ea typeface="Adobe 黑体 Std R" panose="020B0400000000000000" pitchFamily="34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pt-BR" altLang="zh-CN" sz="2400" i="1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  <a:cs typeface="Times New Roman" panose="02020603050405020304" pitchFamily="18" charset="0"/>
                        </a:rPr>
                        <m:t>…,</m:t>
                      </m:r>
                      <m:sSub>
                        <m:sSubPr>
                          <m:ctrlPr>
                            <a:rPr lang="pt-BR" altLang="zh-CN" sz="2400" i="1">
                              <a:latin typeface="Cambria Math" panose="02040503050406030204" pitchFamily="18" charset="0"/>
                              <a:ea typeface="Adobe 黑体 Std R" panose="020B0400000000000000" pitchFamily="34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Adobe 黑体 Std R" panose="020B0400000000000000" pitchFamily="34" charset="-122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Adobe 黑体 Std R" panose="020B0400000000000000" pitchFamily="34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Adobe 黑体 Std R" panose="020B0400000000000000" pitchFamily="34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Adobe 黑体 Std R" panose="020B0400000000000000" pitchFamily="34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Adobe 黑体 Std R" panose="020B0400000000000000" pitchFamily="34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Adobe 黑体 Std R" panose="020B0400000000000000" pitchFamily="34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Adobe 黑体 Std R" panose="020B0400000000000000" pitchFamily="34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altLang="zh-CN" sz="2400" i="1">
                          <a:latin typeface="Cambria Math" panose="02040503050406030204" pitchFamily="18" charset="0"/>
                          <a:ea typeface="Adobe 黑体 Std R" panose="020B0400000000000000" pitchFamily="34" charset="-122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pt-BR" altLang="zh-CN" sz="2400" i="1">
                              <a:latin typeface="Cambria Math" panose="02040503050406030204" pitchFamily="18" charset="0"/>
                              <a:ea typeface="Adobe 黑体 Std R" panose="020B0400000000000000" pitchFamily="34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Adobe 黑体 Std R" panose="020B0400000000000000" pitchFamily="34" charset="-122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Adobe 黑体 Std R" panose="020B0400000000000000" pitchFamily="34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Adobe 黑体 Std R" panose="020B0400000000000000" pitchFamily="34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Adobe 黑体 Std R" panose="020B0400000000000000" pitchFamily="34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Adobe 黑体 Std R" panose="020B0400000000000000" pitchFamily="34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pt-BR" altLang="zh-CN" sz="2400" i="1">
                          <a:latin typeface="Cambria Math" panose="02040503050406030204" pitchFamily="18" charset="0"/>
                          <a:ea typeface="Adobe 黑体 Std R" panose="020B0400000000000000" pitchFamily="34" charset="-122"/>
                          <a:cs typeface="Times New Roman" panose="020206030504050203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sz="2400" dirty="0">
                  <a:latin typeface="Times New Roman" panose="02020603050405020304" pitchFamily="18" charset="0"/>
                  <a:ea typeface="Adobe 黑体 Std R" panose="020B0400000000000000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median{ ⋅ }</a:t>
                </a:r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表示取中值运算符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95F164B-8257-CF67-6B32-4956E6BD53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2722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B01A26-B4F9-26A0-D457-F6014E025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Polynomial Detrending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559D257-60EF-5A7D-8703-7CBF9A40C0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latin typeface="Adobe 黑体 Std R" panose="020B0400000000000000" pitchFamily="34" charset="-122"/>
                    <a:ea typeface="Adobe 黑体 Std R" panose="020B0400000000000000" pitchFamily="34" charset="-122"/>
                  </a:rPr>
                  <a:t>多项式去趋势</a:t>
                </a:r>
                <a:endParaRPr lang="en-US" altLang="zh-CN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000" dirty="0">
                    <a:latin typeface="Times New Roman" panose="02020603050405020304" pitchFamily="18" charset="0"/>
                    <a:ea typeface="Adobe 黑体 Std R" panose="020B0400000000000000" pitchFamily="34" charset="-122"/>
                    <a:cs typeface="Times New Roman" panose="02020603050405020304" pitchFamily="18" charset="0"/>
                  </a:rPr>
                  <a:t>The signal's fluctuations over time must be detrended to concentrate analysis and filtering on the fluctuations of interest.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𝑝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(</m:t>
                      </m:r>
                      <m:r>
                        <a:rPr lang="zh-CN" altLang="en-US" i="1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) = 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Adobe 黑体 Std R" panose="020B0400000000000000" pitchFamily="34" charset="-122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  <a:ea typeface="Adobe 黑体 Std R" panose="020B0400000000000000" pitchFamily="34" charset="-122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Adobe 黑体 Std R" panose="020B0400000000000000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Adobe 黑体 Std R" panose="020B0400000000000000" pitchFamily="34" charset="-122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  <a:ea typeface="Adobe 黑体 Std R" panose="020B0400000000000000" pitchFamily="34" charset="-122"/>
                            </a:rPr>
                            <m:t>𝑥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Adobe 黑体 Std R" panose="020B0400000000000000" pitchFamily="34" charset="-122"/>
                            </a:rPr>
                            <m:t>𝑛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Adobe 黑体 Std R" panose="020B0400000000000000" pitchFamily="34" charset="-122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  <a:ea typeface="Adobe 黑体 Std R" panose="020B0400000000000000" pitchFamily="34" charset="-122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Adobe 黑体 Std R" panose="020B0400000000000000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Adobe 黑体 Std R" panose="020B0400000000000000" pitchFamily="34" charset="-122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  <a:ea typeface="Adobe 黑体 Std R" panose="020B0400000000000000" pitchFamily="34" charset="-122"/>
                            </a:rPr>
                            <m:t>𝑥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Adobe 黑体 Std R" panose="020B0400000000000000" pitchFamily="34" charset="-122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Adobe 黑体 Std R" panose="020B0400000000000000" pitchFamily="34" charset="-122"/>
                            </a:rPr>
                            <m:t>−1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+ ⋯ 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Adobe 黑体 Std R" panose="020B0400000000000000" pitchFamily="34" charset="-122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  <a:ea typeface="Adobe 黑体 Std R" panose="020B0400000000000000" pitchFamily="34" charset="-122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Adobe 黑体 Std R" panose="020B0400000000000000" pitchFamily="34" charset="-122"/>
                            </a:rPr>
                            <m:t>𝑛</m:t>
                          </m:r>
                        </m:sub>
                      </m:sSub>
                      <m:r>
                        <a:rPr lang="zh-CN" altLang="en-US" i="1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∙</m:t>
                      </m:r>
                      <m:r>
                        <a:rPr lang="zh-CN" altLang="en-US" i="1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𝑥</m:t>
                      </m:r>
                      <m:r>
                        <a:rPr lang="zh-CN" altLang="en-US" i="1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 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Adobe 黑体 Std R" panose="020B0400000000000000" pitchFamily="34" charset="-122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  <a:ea typeface="Adobe 黑体 Std R" panose="020B0400000000000000" pitchFamily="34" charset="-122"/>
                            </a:rPr>
                            <m:t>𝑝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Adobe 黑体 Std R" panose="020B0400000000000000" pitchFamily="34" charset="-122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Adobe 黑体 Std R" panose="020B0400000000000000" pitchFamily="34" charset="-122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559D257-60EF-5A7D-8703-7CBF9A40C0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1546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CF918-57CE-FD0E-E550-FE55B47C1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C87811-BFBA-F518-5A9B-B9E170717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Principal Component Analysis (PCA)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3E9848-7016-E331-218F-8531122A69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主成分分析</a:t>
            </a:r>
            <a:endParaRPr lang="en-US" altLang="zh-CN" dirty="0"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PCA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试图找到能够解释数据方差最多的成分。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PCA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的主要目标是找到一组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正交、不相关、具有最大方差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的新变量，这些新变量通常不是独立的，其中每个主成分都是原始特征的线性组合。</a:t>
            </a:r>
          </a:p>
        </p:txBody>
      </p:sp>
    </p:spTree>
    <p:extLst>
      <p:ext uri="{BB962C8B-B14F-4D97-AF65-F5344CB8AC3E}">
        <p14:creationId xmlns:p14="http://schemas.microsoft.com/office/powerpoint/2010/main" val="2147453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A5C01B-ED94-C0EA-A6E2-BD2438103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Component Analysis (ICA)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2580942-A193-B683-D9EE-12897E1586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zh-CN" altLang="en-US" dirty="0">
                    <a:latin typeface="Adobe 黑体 Std R" panose="020B0400000000000000" pitchFamily="34" charset="-122"/>
                    <a:ea typeface="Adobe 黑体 Std R" panose="020B0400000000000000" pitchFamily="34" charset="-122"/>
                  </a:rPr>
                  <a:t>独立成分分析</a:t>
                </a:r>
                <a:endParaRPr lang="en-US" altLang="zh-CN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ICA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将数据分解为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相互独立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的源信号，这些源信号在混合过程中被线性组合以生成观察到的数据。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独立成分分析（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ICA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）旨在从多变量信号中恢复出统计独立的源信号。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假设我们观察到的混合信号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𝑋</m:t>
                    </m:r>
                  </m:oMath>
                </a14:m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是一些未知的独立信号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𝑆</m:t>
                    </m:r>
                  </m:oMath>
                </a14:m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的线性混合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: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𝑋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𝐴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endPara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2580942-A193-B683-D9EE-12897E1586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1401" r="-5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0974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083ED7-6344-0BD2-CE31-0D3E3C00A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Spectral Density (PSD)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667FD2-EBEB-D369-7F0A-3BE852FB3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周期图法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：将随机信号的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个采样点视作一个能量有限信号，取离散傅里叶变换后，取幅值平方除以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，以此作为对真实功率谱的估计。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自相关法：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自相关法的理论基础是维纳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-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辛钦定理，即先对信号做自相关，然后傅里叶变换，从而得到功率谱密度。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存在矛盾：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分辨率与方差</a:t>
            </a:r>
          </a:p>
        </p:txBody>
      </p:sp>
    </p:spTree>
    <p:extLst>
      <p:ext uri="{BB962C8B-B14F-4D97-AF65-F5344CB8AC3E}">
        <p14:creationId xmlns:p14="http://schemas.microsoft.com/office/powerpoint/2010/main" val="16800185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207F58-7E73-28C6-7BB6-56CD1C041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Entropy (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C8BE8AF-10D8-F62C-FFD5-ECE8B30BD1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熵的一种度量方式，用来描述信号的不确定性或信息量。</a:t>
                </a:r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DE</a:t>
                </a:r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特征的计算步骤：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进行傅里叶变换或小波变换，得到信号的频谱。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计算信号在不同频段（如 </a:t>
                </a: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α </a:t>
                </a:r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波、</a:t>
                </a: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β </a:t>
                </a:r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波、</a:t>
                </a: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θ </a:t>
                </a:r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波）的功率谱。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计算这些频段的差分熵，得到 </a:t>
                </a: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DE </a:t>
                </a:r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特征。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func>
                            <m:func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altLang="zh-CN" b="0" dirty="0"/>
              </a:p>
              <a:p>
                <a:pPr lvl="2">
                  <a:lnSpc>
                    <a:spcPct val="110000"/>
                  </a:lnSpc>
                </a:pP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p(x) </a:t>
                </a:r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是信号</a:t>
                </a: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x</a:t>
                </a:r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的概率密度函数</a:t>
                </a: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, H(x) </a:t>
                </a:r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就是信号的差分熵</a:t>
                </a:r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C8BE8AF-10D8-F62C-FFD5-ECE8B30BD1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18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28289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60F66A-5E56-8B3F-D673-75C355F9E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Directed Transfer Function (dDTF)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6E2654B-ED11-D64C-5720-3FA088021F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>
                    <a:latin typeface="Adobe 黑体 Std R" panose="020B0400000000000000" pitchFamily="34" charset="-122"/>
                    <a:ea typeface="Adobe 黑体 Std R" panose="020B0400000000000000" pitchFamily="34" charset="-122"/>
                  </a:rPr>
                  <a:t>直接有向传递函数</a:t>
                </a:r>
                <a:endParaRPr lang="en-US" altLang="zh-CN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  <a:p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从 </a:t>
                </a:r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EEG </a:t>
                </a: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数据中提取“有效连接性” ，即分析不同脑区之间直接的信息流动方向和强度。</a:t>
                </a:r>
                <a:endPara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r>
                  <a:rPr lang="zh-CN" altLang="en-US" b="1" dirty="0"/>
                  <a:t>原理流程：</a:t>
                </a:r>
                <a:endParaRPr lang="en-US" altLang="zh-CN" b="1" dirty="0"/>
              </a:p>
              <a:p>
                <a:pPr lvl="1"/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建立多变量自回归模型：将原始时间序列数据拟合为一个多变量自回归模型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lvl="1"/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转换到频域 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lvl="1"/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计算 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DTF 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：计算从脑区 </a:t>
                </a:r>
                <a14:m>
                  <m:oMath xmlns:m="http://schemas.openxmlformats.org/officeDocument/2006/math">
                    <m:r>
                      <a:rPr lang="zh-CN" altLang="en-US" sz="20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 到脑区 </a:t>
                </a:r>
                <a14:m>
                  <m:oMath xmlns:m="http://schemas.openxmlformats.org/officeDocument/2006/math">
                    <m:r>
                      <a:rPr lang="zh-CN" altLang="en-US" sz="20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 的信息流比例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lvl="1"/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引入部分相干性 ：间接连接系数接近 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，从而将虚假的连接剔除掉。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lvl="1"/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计算 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dDTF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：将 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DTF 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与部分相干性相乘，从而只保留直接连接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6E2654B-ED11-D64C-5720-3FA088021F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4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23691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991375-5EFD-3449-17FF-860787B45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Empirical Mode Decomposition (EMD)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F3C21BA-9232-CE23-18A0-C2467012BF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3501448"/>
              </a:xfrm>
            </p:spPr>
            <p:txBody>
              <a:bodyPr/>
              <a:lstStyle/>
              <a:p>
                <a:r>
                  <a:rPr lang="zh-CN" altLang="en-US" dirty="0">
                    <a:latin typeface="Adobe 黑体 Std R" panose="020B0400000000000000" pitchFamily="34" charset="-122"/>
                    <a:ea typeface="Adobe 黑体 Std R" panose="020B0400000000000000" pitchFamily="34" charset="-122"/>
                  </a:rPr>
                  <a:t>经验模态分解</a:t>
                </a:r>
                <a:endParaRPr lang="en-US" altLang="zh-CN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  <a:p>
                <a:r>
                  <a:rPr lang="en-US" altLang="zh-CN" sz="2400" dirty="0">
                    <a:latin typeface="Times New Roman" panose="02020603050405020304" pitchFamily="18" charset="0"/>
                    <a:ea typeface="Adobe 黑体 Std R" panose="020B0400000000000000" pitchFamily="34" charset="-122"/>
                    <a:cs typeface="Times New Roman" panose="02020603050405020304" pitchFamily="18" charset="0"/>
                  </a:rPr>
                  <a:t>Decomposing the signal into 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Adobe 黑体 Std R" panose="020B0400000000000000" pitchFamily="34" charset="-122"/>
                    <a:cs typeface="Times New Roman" panose="02020603050405020304" pitchFamily="18" charset="0"/>
                  </a:rPr>
                  <a:t>IMFs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Adobe 黑体 Std R" panose="020B0400000000000000" pitchFamily="34" charset="-122"/>
                    <a:cs typeface="Times New Roman" panose="02020603050405020304" pitchFamily="18" charset="0"/>
                  </a:rPr>
                  <a:t> is the EMD's goal.</a:t>
                </a:r>
              </a:p>
              <a:p>
                <a:r>
                  <a:rPr lang="en-US" altLang="zh-CN" sz="2400" dirty="0">
                    <a:latin typeface="Times New Roman" panose="02020603050405020304" pitchFamily="18" charset="0"/>
                    <a:ea typeface="Adobe 黑体 Std R" panose="020B0400000000000000" pitchFamily="34" charset="-122"/>
                    <a:cs typeface="Times New Roman" panose="02020603050405020304" pitchFamily="18" charset="0"/>
                  </a:rPr>
                  <a:t> An IMF function meets two conditions: </a:t>
                </a:r>
              </a:p>
              <a:p>
                <a:pPr lvl="1"/>
                <a:r>
                  <a:rPr lang="en-US" altLang="zh-CN" sz="2000" dirty="0">
                    <a:latin typeface="Times New Roman" panose="02020603050405020304" pitchFamily="18" charset="0"/>
                    <a:ea typeface="Adobe 黑体 Std R" panose="020B0400000000000000" pitchFamily="34" charset="-122"/>
                    <a:cs typeface="Times New Roman" panose="02020603050405020304" pitchFamily="18" charset="0"/>
                  </a:rPr>
                  <a:t>1) The number of extrema and the number of zero crossings must be equal or differ by one across the data set; </a:t>
                </a:r>
              </a:p>
              <a:p>
                <a:pPr lvl="1"/>
                <a:r>
                  <a:rPr lang="en-US" altLang="zh-CN" sz="2000" dirty="0">
                    <a:latin typeface="Times New Roman" panose="02020603050405020304" pitchFamily="18" charset="0"/>
                    <a:ea typeface="Adobe 黑体 Std R" panose="020B0400000000000000" pitchFamily="34" charset="-122"/>
                    <a:cs typeface="Times New Roman" panose="02020603050405020304" pitchFamily="18" charset="0"/>
                  </a:rPr>
                  <a:t>2) The mean value of the local maxima and minima envelops must be zero at any point. </a:t>
                </a:r>
              </a:p>
              <a:p>
                <a:pPr lvl="1"/>
                <a:endParaRPr lang="en-US" altLang="zh-CN" sz="2000" dirty="0">
                  <a:latin typeface="Times New Roman" panose="02020603050405020304" pitchFamily="18" charset="0"/>
                  <a:ea typeface="Adobe 黑体 Std R" panose="020B0400000000000000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  <a:cs typeface="Times New Roman" panose="020206030504050203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Adobe 黑体 Std R" panose="020B0400000000000000" pitchFamily="34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Adobe 黑体 Std R" panose="020B0400000000000000" pitchFamily="34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Adobe 黑体 Std R" panose="020B0400000000000000" pitchFamily="34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sz="2400" b="0" i="1" smtClean="0">
                              <a:latin typeface="Cambria Math" panose="02040503050406030204" pitchFamily="18" charset="0"/>
                              <a:ea typeface="Adobe 黑体 Std R" panose="020B0400000000000000" pitchFamily="34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Adobe 黑体 Std R" panose="020B0400000000000000" pitchFamily="34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Adobe 黑体 Std R" panose="020B0400000000000000" pitchFamily="34" charset="-122"/>
                              <a:cs typeface="Times New Roman" panose="02020603050405020304" pitchFamily="18" charset="0"/>
                            </a:rPr>
                            <m:t>𝑞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Adobe 黑体 Std R" panose="020B0400000000000000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Adobe 黑体 Std R" panose="020B0400000000000000" pitchFamily="34" charset="-122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Adobe 黑体 Std R" panose="020B0400000000000000" pitchFamily="34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Adobe 黑体 Std R" panose="020B0400000000000000" pitchFamily="34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Adobe 黑体 Std R" panose="020B0400000000000000" pitchFamily="34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Adobe 黑体 Std R" panose="020B0400000000000000" pitchFamily="34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Adobe 黑体 Std R" panose="020B0400000000000000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Adobe 黑体 Std R" panose="020B0400000000000000" pitchFamily="34" charset="-122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Adobe 黑体 Std R" panose="020B0400000000000000" pitchFamily="34" charset="-122"/>
                                  <a:cs typeface="Times New Roman" panose="02020603050405020304" pitchFamily="18" charset="0"/>
                                </a:rPr>
                                <m:t>𝑞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Adobe 黑体 Std R" panose="020B0400000000000000" pitchFamily="34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Adobe 黑体 Std R" panose="020B0400000000000000" pitchFamily="34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Adobe 黑体 Std R" panose="020B0400000000000000" pitchFamily="34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CN" sz="2400" dirty="0">
                  <a:latin typeface="Times New Roman" panose="02020603050405020304" pitchFamily="18" charset="0"/>
                  <a:ea typeface="Adobe 黑体 Std R" panose="020B0400000000000000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F3C21BA-9232-CE23-18A0-C2467012BF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3501448"/>
              </a:xfrm>
              <a:blipFill>
                <a:blip r:embed="rId4"/>
                <a:stretch>
                  <a:fillRect l="-1043" t="-29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45943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094E65-F8B3-7986-2568-3B8700047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Hilbert Huang Transform (HHT)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F008DD-43ED-1312-0FD0-E140AC5487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希尔伯特黄变换</a:t>
            </a:r>
            <a:endParaRPr lang="en-US" altLang="zh-CN" dirty="0"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  <a:p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希尔伯特黄变换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: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经过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EMD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分解出的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IMF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分量再经过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Hibert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变换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得到信号瞬时频率和瞬时幅值的方法。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HHT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结果反映的是信号的时频特性，即信号的频域特征随时间变化的规律。</a:t>
            </a: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9D96E4A-2DAE-DEF2-F859-B41670A97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4816" y="3687097"/>
            <a:ext cx="6162368" cy="3050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0766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13F911F4-88BE-2461-0EC9-4F3B2EDF7841}"/>
              </a:ext>
            </a:extLst>
          </p:cNvPr>
          <p:cNvSpPr/>
          <p:nvPr/>
        </p:nvSpPr>
        <p:spPr>
          <a:xfrm>
            <a:off x="4531373" y="1708055"/>
            <a:ext cx="3858526" cy="327518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948991F-C39C-E35A-2745-AC521743FCEA}"/>
              </a:ext>
            </a:extLst>
          </p:cNvPr>
          <p:cNvSpPr/>
          <p:nvPr/>
        </p:nvSpPr>
        <p:spPr>
          <a:xfrm>
            <a:off x="4517065" y="5009235"/>
            <a:ext cx="3858526" cy="137738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C193C67-E3AB-D5D5-34B0-87EBEAD1F053}"/>
              </a:ext>
            </a:extLst>
          </p:cNvPr>
          <p:cNvSpPr/>
          <p:nvPr/>
        </p:nvSpPr>
        <p:spPr>
          <a:xfrm>
            <a:off x="8375591" y="1690688"/>
            <a:ext cx="2452080" cy="25930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8CD57F3-175B-6AB5-15D9-21E638164ECE}"/>
              </a:ext>
            </a:extLst>
          </p:cNvPr>
          <p:cNvSpPr/>
          <p:nvPr/>
        </p:nvSpPr>
        <p:spPr>
          <a:xfrm>
            <a:off x="838200" y="1690688"/>
            <a:ext cx="3678865" cy="46959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E87A603-C3D4-4448-8B03-2325D4656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EEG data processing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B3BBCADC-48EA-34BF-CE3C-7BB0ECAD28A6}"/>
              </a:ext>
            </a:extLst>
          </p:cNvPr>
          <p:cNvSpPr/>
          <p:nvPr/>
        </p:nvSpPr>
        <p:spPr>
          <a:xfrm>
            <a:off x="1080565" y="1998789"/>
            <a:ext cx="3194137" cy="86429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Re-Sample 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5" name="矩形: 圆角 4">
            <a:hlinkClick r:id="rId2" action="ppaction://hlinksldjump"/>
            <a:extLst>
              <a:ext uri="{FF2B5EF4-FFF2-40B4-BE49-F238E27FC236}">
                <a16:creationId xmlns:a16="http://schemas.microsoft.com/office/drawing/2014/main" id="{C33AB33B-2B98-0377-A00D-714548CF471F}"/>
              </a:ext>
            </a:extLst>
          </p:cNvPr>
          <p:cNvSpPr/>
          <p:nvPr/>
        </p:nvSpPr>
        <p:spPr>
          <a:xfrm>
            <a:off x="4849259" y="1897880"/>
            <a:ext cx="3194137" cy="864297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Band Filter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FE61A91-5F7F-5490-DF1A-BD17E378D285}"/>
              </a:ext>
            </a:extLst>
          </p:cNvPr>
          <p:cNvSpPr/>
          <p:nvPr/>
        </p:nvSpPr>
        <p:spPr>
          <a:xfrm>
            <a:off x="1080565" y="3018723"/>
            <a:ext cx="3194137" cy="864297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Channels Selected 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7" name="矩形: 圆角 6">
            <a:hlinkClick r:id="rId3" action="ppaction://hlinksldjump"/>
            <a:extLst>
              <a:ext uri="{FF2B5EF4-FFF2-40B4-BE49-F238E27FC236}">
                <a16:creationId xmlns:a16="http://schemas.microsoft.com/office/drawing/2014/main" id="{AF6FCCB1-E3A4-F17E-0828-DDE7916D425C}"/>
              </a:ext>
            </a:extLst>
          </p:cNvPr>
          <p:cNvSpPr/>
          <p:nvPr/>
        </p:nvSpPr>
        <p:spPr>
          <a:xfrm>
            <a:off x="4849258" y="3937746"/>
            <a:ext cx="3194137" cy="864297"/>
          </a:xfrm>
          <a:prstGeom prst="round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Z-Score Normalization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06DE42D-671B-B764-64DD-D0C70F50F551}"/>
              </a:ext>
            </a:extLst>
          </p:cNvPr>
          <p:cNvSpPr/>
          <p:nvPr/>
        </p:nvSpPr>
        <p:spPr>
          <a:xfrm>
            <a:off x="1080565" y="4038657"/>
            <a:ext cx="3194137" cy="864297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Re-Reference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CEBB8BB-4B30-9B6B-1E2C-950E263AB7B7}"/>
              </a:ext>
            </a:extLst>
          </p:cNvPr>
          <p:cNvSpPr/>
          <p:nvPr/>
        </p:nvSpPr>
        <p:spPr>
          <a:xfrm>
            <a:off x="1080565" y="5121935"/>
            <a:ext cx="3194137" cy="864297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 Update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3" name="矩形: 圆角 2">
            <a:hlinkClick r:id="rId4" action="ppaction://hlinksldjump"/>
            <a:extLst>
              <a:ext uri="{FF2B5EF4-FFF2-40B4-BE49-F238E27FC236}">
                <a16:creationId xmlns:a16="http://schemas.microsoft.com/office/drawing/2014/main" id="{DF580EC7-561C-513D-4817-5D1F9BEF2E7F}"/>
              </a:ext>
            </a:extLst>
          </p:cNvPr>
          <p:cNvSpPr/>
          <p:nvPr/>
        </p:nvSpPr>
        <p:spPr>
          <a:xfrm>
            <a:off x="4849258" y="2917812"/>
            <a:ext cx="3194137" cy="864297"/>
          </a:xfrm>
          <a:prstGeom prst="round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Notch Filter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2" name="矩形: 圆角 11">
            <a:hlinkClick r:id="rId5" action="ppaction://hlinksldjump"/>
            <a:extLst>
              <a:ext uri="{FF2B5EF4-FFF2-40B4-BE49-F238E27FC236}">
                <a16:creationId xmlns:a16="http://schemas.microsoft.com/office/drawing/2014/main" id="{EB0577E1-8F42-83B0-AEFE-1487BC312835}"/>
              </a:ext>
            </a:extLst>
          </p:cNvPr>
          <p:cNvSpPr/>
          <p:nvPr/>
        </p:nvSpPr>
        <p:spPr>
          <a:xfrm>
            <a:off x="8735470" y="3015892"/>
            <a:ext cx="1688164" cy="864297"/>
          </a:xfrm>
          <a:prstGeom prst="round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3" name="矩形: 圆角 12">
            <a:hlinkClick r:id="rId6" action="ppaction://hlinksldjump"/>
            <a:extLst>
              <a:ext uri="{FF2B5EF4-FFF2-40B4-BE49-F238E27FC236}">
                <a16:creationId xmlns:a16="http://schemas.microsoft.com/office/drawing/2014/main" id="{2AB551C7-D7A4-696B-63EB-AB37097D9755}"/>
              </a:ext>
            </a:extLst>
          </p:cNvPr>
          <p:cNvSpPr/>
          <p:nvPr/>
        </p:nvSpPr>
        <p:spPr>
          <a:xfrm>
            <a:off x="8735470" y="1998789"/>
            <a:ext cx="1688164" cy="864297"/>
          </a:xfrm>
          <a:prstGeom prst="roundRect">
            <a:avLst/>
          </a:prstGeom>
          <a:noFill/>
          <a:ln w="381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PSD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0308684-85FF-648B-81EA-2CD4A4769725}"/>
              </a:ext>
            </a:extLst>
          </p:cNvPr>
          <p:cNvSpPr/>
          <p:nvPr/>
        </p:nvSpPr>
        <p:spPr>
          <a:xfrm>
            <a:off x="6548274" y="5208647"/>
            <a:ext cx="1688164" cy="864297"/>
          </a:xfrm>
          <a:prstGeom prst="roundRect">
            <a:avLst/>
          </a:prstGeom>
          <a:noFill/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CSP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1" name="矩形: 圆角 10">
            <a:hlinkClick r:id="rId7" action="ppaction://hlinksldjump"/>
            <a:extLst>
              <a:ext uri="{FF2B5EF4-FFF2-40B4-BE49-F238E27FC236}">
                <a16:creationId xmlns:a16="http://schemas.microsoft.com/office/drawing/2014/main" id="{1019A353-8F9C-84FB-06F0-FEEAE4B77EE4}"/>
              </a:ext>
            </a:extLst>
          </p:cNvPr>
          <p:cNvSpPr/>
          <p:nvPr/>
        </p:nvSpPr>
        <p:spPr>
          <a:xfrm>
            <a:off x="4720958" y="5196303"/>
            <a:ext cx="1688164" cy="864297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CCA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A94879C-91D8-5378-FD41-6A326177282C}"/>
              </a:ext>
            </a:extLst>
          </p:cNvPr>
          <p:cNvSpPr/>
          <p:nvPr/>
        </p:nvSpPr>
        <p:spPr>
          <a:xfrm>
            <a:off x="8375591" y="4283736"/>
            <a:ext cx="2452080" cy="21028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hlinkClick r:id="rId8" action="ppaction://hlinksldjump"/>
            <a:extLst>
              <a:ext uri="{FF2B5EF4-FFF2-40B4-BE49-F238E27FC236}">
                <a16:creationId xmlns:a16="http://schemas.microsoft.com/office/drawing/2014/main" id="{DBAD6E13-3E73-F05F-8A63-ACF3751B6F0A}"/>
              </a:ext>
            </a:extLst>
          </p:cNvPr>
          <p:cNvSpPr/>
          <p:nvPr/>
        </p:nvSpPr>
        <p:spPr>
          <a:xfrm>
            <a:off x="8674097" y="4436542"/>
            <a:ext cx="1855067" cy="835908"/>
          </a:xfrm>
          <a:prstGeom prst="roundRect">
            <a:avLst/>
          </a:prstGeom>
          <a:noFill/>
          <a:ln w="38100">
            <a:solidFill>
              <a:srgbClr val="CC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PCA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20" name="矩形: 圆角 19">
            <a:hlinkClick r:id="rId9" action="ppaction://hlinksldjump"/>
            <a:extLst>
              <a:ext uri="{FF2B5EF4-FFF2-40B4-BE49-F238E27FC236}">
                <a16:creationId xmlns:a16="http://schemas.microsoft.com/office/drawing/2014/main" id="{CE9B25C4-764D-A278-0D46-E1BC1ED904FD}"/>
              </a:ext>
            </a:extLst>
          </p:cNvPr>
          <p:cNvSpPr/>
          <p:nvPr/>
        </p:nvSpPr>
        <p:spPr>
          <a:xfrm>
            <a:off x="8674097" y="5456134"/>
            <a:ext cx="1855067" cy="805030"/>
          </a:xfrm>
          <a:prstGeom prst="roundRect">
            <a:avLst/>
          </a:prstGeom>
          <a:noFill/>
          <a:ln w="38100">
            <a:solidFill>
              <a:srgbClr val="FF33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ICA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19316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A78C8B00-0B8A-08AC-5D7D-5C1EE9BD78C5}"/>
              </a:ext>
            </a:extLst>
          </p:cNvPr>
          <p:cNvSpPr/>
          <p:nvPr/>
        </p:nvSpPr>
        <p:spPr>
          <a:xfrm>
            <a:off x="4514479" y="1691014"/>
            <a:ext cx="2801598" cy="24610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hlinkClick r:id="rId3"/>
            <a:extLst>
              <a:ext uri="{FF2B5EF4-FFF2-40B4-BE49-F238E27FC236}">
                <a16:creationId xmlns:a16="http://schemas.microsoft.com/office/drawing/2014/main" id="{CAB871BC-E46E-676A-8A86-CA750CDDA84F}"/>
              </a:ext>
            </a:extLst>
          </p:cNvPr>
          <p:cNvSpPr/>
          <p:nvPr/>
        </p:nvSpPr>
        <p:spPr>
          <a:xfrm>
            <a:off x="835614" y="1691014"/>
            <a:ext cx="3678865" cy="46959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4A40192-731C-8582-3F8D-8D2A1850C15F}"/>
              </a:ext>
            </a:extLst>
          </p:cNvPr>
          <p:cNvSpPr>
            <a:spLocks noGrp="1" noChangeAspect="1"/>
          </p:cNvSpPr>
          <p:nvPr>
            <p:ph type="title"/>
          </p:nvPr>
        </p:nvSpPr>
        <p:spPr>
          <a:xfrm>
            <a:off x="838200" y="365125"/>
            <a:ext cx="10518186" cy="1325889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 data processing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: 圆角 3">
            <a:hlinkClick r:id="rId4" action="ppaction://hlinksldjump"/>
            <a:extLst>
              <a:ext uri="{FF2B5EF4-FFF2-40B4-BE49-F238E27FC236}">
                <a16:creationId xmlns:a16="http://schemas.microsoft.com/office/drawing/2014/main" id="{F34DF860-B72B-0D05-89CB-AAB29C829101}"/>
              </a:ext>
            </a:extLst>
          </p:cNvPr>
          <p:cNvSpPr/>
          <p:nvPr/>
        </p:nvSpPr>
        <p:spPr>
          <a:xfrm>
            <a:off x="971508" y="1878587"/>
            <a:ext cx="3407080" cy="864297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Z-Score Normalization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5" name="矩形: 圆角 4">
            <a:hlinkClick r:id="rId5" action="ppaction://hlinksldjump"/>
            <a:extLst>
              <a:ext uri="{FF2B5EF4-FFF2-40B4-BE49-F238E27FC236}">
                <a16:creationId xmlns:a16="http://schemas.microsoft.com/office/drawing/2014/main" id="{03E9289A-5280-F439-A704-8ADFB0DF675B}"/>
              </a:ext>
            </a:extLst>
          </p:cNvPr>
          <p:cNvSpPr/>
          <p:nvPr/>
        </p:nvSpPr>
        <p:spPr>
          <a:xfrm>
            <a:off x="971507" y="3015324"/>
            <a:ext cx="3407080" cy="864297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Median Filtering (200ms)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7" name="矩形: 圆角 6">
            <a:hlinkClick r:id="rId5" action="ppaction://hlinksldjump"/>
            <a:extLst>
              <a:ext uri="{FF2B5EF4-FFF2-40B4-BE49-F238E27FC236}">
                <a16:creationId xmlns:a16="http://schemas.microsoft.com/office/drawing/2014/main" id="{EBB9C4F9-1A47-9359-3406-CB584AB34532}"/>
              </a:ext>
            </a:extLst>
          </p:cNvPr>
          <p:cNvSpPr/>
          <p:nvPr/>
        </p:nvSpPr>
        <p:spPr>
          <a:xfrm>
            <a:off x="971507" y="5288798"/>
            <a:ext cx="3407080" cy="864297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Median Filtering (600ms)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0" name="矩形: 圆角 9">
            <a:hlinkClick r:id="rId6" action="ppaction://hlinksldjump"/>
            <a:extLst>
              <a:ext uri="{FF2B5EF4-FFF2-40B4-BE49-F238E27FC236}">
                <a16:creationId xmlns:a16="http://schemas.microsoft.com/office/drawing/2014/main" id="{50EE4925-3E7B-CB9D-32F2-852BA6CFFA20}"/>
              </a:ext>
            </a:extLst>
          </p:cNvPr>
          <p:cNvSpPr/>
          <p:nvPr/>
        </p:nvSpPr>
        <p:spPr>
          <a:xfrm>
            <a:off x="971507" y="4152061"/>
            <a:ext cx="3407080" cy="864297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Polynomial Detrending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3" name="矩形: 圆角 2">
            <a:hlinkClick r:id="rId7" action="ppaction://hlinksldjump"/>
            <a:extLst>
              <a:ext uri="{FF2B5EF4-FFF2-40B4-BE49-F238E27FC236}">
                <a16:creationId xmlns:a16="http://schemas.microsoft.com/office/drawing/2014/main" id="{D2AEB8A7-B07C-8007-A636-AC477471C4D0}"/>
              </a:ext>
            </a:extLst>
          </p:cNvPr>
          <p:cNvSpPr/>
          <p:nvPr/>
        </p:nvSpPr>
        <p:spPr>
          <a:xfrm>
            <a:off x="4896468" y="1878587"/>
            <a:ext cx="2104999" cy="864297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EMD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6" name="矩形: 圆角 5">
            <a:hlinkClick r:id="rId8" action="ppaction://hlinksldjump"/>
            <a:extLst>
              <a:ext uri="{FF2B5EF4-FFF2-40B4-BE49-F238E27FC236}">
                <a16:creationId xmlns:a16="http://schemas.microsoft.com/office/drawing/2014/main" id="{B9DD7302-7A4D-7EAB-8045-55FCBA12BE85}"/>
              </a:ext>
            </a:extLst>
          </p:cNvPr>
          <p:cNvSpPr/>
          <p:nvPr/>
        </p:nvSpPr>
        <p:spPr>
          <a:xfrm>
            <a:off x="4896468" y="3015324"/>
            <a:ext cx="2104999" cy="864297"/>
          </a:xfrm>
          <a:prstGeom prst="round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HHT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67270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CA9D4C6C-2179-3EB6-4F6F-3C85EA60368F}"/>
              </a:ext>
            </a:extLst>
          </p:cNvPr>
          <p:cNvSpPr/>
          <p:nvPr/>
        </p:nvSpPr>
        <p:spPr>
          <a:xfrm>
            <a:off x="838200" y="1662720"/>
            <a:ext cx="9899073" cy="46959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2DB2AD1-822C-091A-C8F7-943897382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endParaRPr lang="zh-CN" altLang="en-US" dirty="0"/>
          </a:p>
        </p:txBody>
      </p:sp>
      <p:sp>
        <p:nvSpPr>
          <p:cNvPr id="6" name="矩形: 圆角 5">
            <a:hlinkClick r:id="rId2" action="ppaction://hlinksldjump"/>
            <a:extLst>
              <a:ext uri="{FF2B5EF4-FFF2-40B4-BE49-F238E27FC236}">
                <a16:creationId xmlns:a16="http://schemas.microsoft.com/office/drawing/2014/main" id="{4B3CF46E-B69D-5E84-3D67-23FB140E24B2}"/>
              </a:ext>
            </a:extLst>
          </p:cNvPr>
          <p:cNvSpPr/>
          <p:nvPr/>
        </p:nvSpPr>
        <p:spPr>
          <a:xfrm>
            <a:off x="1089271" y="1947860"/>
            <a:ext cx="2983963" cy="864297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Hjorth Parameters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7" name="矩形: 圆角 6">
            <a:hlinkClick r:id="rId3" action="ppaction://hlinksldjump"/>
            <a:extLst>
              <a:ext uri="{FF2B5EF4-FFF2-40B4-BE49-F238E27FC236}">
                <a16:creationId xmlns:a16="http://schemas.microsoft.com/office/drawing/2014/main" id="{C3736AF5-3167-A55E-5E04-E0AF55D670E8}"/>
              </a:ext>
            </a:extLst>
          </p:cNvPr>
          <p:cNvSpPr/>
          <p:nvPr/>
        </p:nvSpPr>
        <p:spPr>
          <a:xfrm>
            <a:off x="1089272" y="2979274"/>
            <a:ext cx="2983964" cy="864297"/>
          </a:xfrm>
          <a:prstGeom prst="round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Fractal Dimension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54B9AB3C-E7C8-10D5-E9FD-CCDB66A910F5}"/>
              </a:ext>
            </a:extLst>
          </p:cNvPr>
          <p:cNvSpPr/>
          <p:nvPr/>
        </p:nvSpPr>
        <p:spPr>
          <a:xfrm>
            <a:off x="1089271" y="4010688"/>
            <a:ext cx="2983964" cy="864297"/>
          </a:xfrm>
          <a:prstGeom prst="roundRect">
            <a:avLst/>
          </a:prstGeom>
          <a:noFill/>
          <a:ln w="381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0BAF034-51F0-D79F-082F-2E564A41DFC1}"/>
              </a:ext>
            </a:extLst>
          </p:cNvPr>
          <p:cNvSpPr/>
          <p:nvPr/>
        </p:nvSpPr>
        <p:spPr>
          <a:xfrm>
            <a:off x="1089271" y="5042102"/>
            <a:ext cx="2983964" cy="864297"/>
          </a:xfrm>
          <a:prstGeom prst="round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ADCEF00F-C082-47D3-B572-4E7F42164FEA}"/>
              </a:ext>
            </a:extLst>
          </p:cNvPr>
          <p:cNvSpPr/>
          <p:nvPr/>
        </p:nvSpPr>
        <p:spPr>
          <a:xfrm>
            <a:off x="4302679" y="1965437"/>
            <a:ext cx="2983964" cy="864297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8F2B3CD3-D534-E039-EA34-10D46D98B46B}"/>
              </a:ext>
            </a:extLst>
          </p:cNvPr>
          <p:cNvSpPr/>
          <p:nvPr/>
        </p:nvSpPr>
        <p:spPr>
          <a:xfrm>
            <a:off x="4302679" y="2996851"/>
            <a:ext cx="2983964" cy="864297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584FDA2C-1785-6E97-6ECE-E7DDB640D5C1}"/>
              </a:ext>
            </a:extLst>
          </p:cNvPr>
          <p:cNvSpPr/>
          <p:nvPr/>
        </p:nvSpPr>
        <p:spPr>
          <a:xfrm>
            <a:off x="7516086" y="1956869"/>
            <a:ext cx="2983964" cy="864297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395477DC-BAE8-7642-5906-1583E4887B50}"/>
              </a:ext>
            </a:extLst>
          </p:cNvPr>
          <p:cNvSpPr/>
          <p:nvPr/>
        </p:nvSpPr>
        <p:spPr>
          <a:xfrm>
            <a:off x="7516086" y="2988283"/>
            <a:ext cx="2983964" cy="864297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40A2716A-BC7A-7ADA-FFEC-FEF044B79382}"/>
              </a:ext>
            </a:extLst>
          </p:cNvPr>
          <p:cNvSpPr/>
          <p:nvPr/>
        </p:nvSpPr>
        <p:spPr>
          <a:xfrm>
            <a:off x="4302679" y="4019697"/>
            <a:ext cx="2983964" cy="864297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32FAD405-43FD-20F1-3B57-752E72DFE25C}"/>
              </a:ext>
            </a:extLst>
          </p:cNvPr>
          <p:cNvSpPr/>
          <p:nvPr/>
        </p:nvSpPr>
        <p:spPr>
          <a:xfrm>
            <a:off x="4302679" y="5051111"/>
            <a:ext cx="2983964" cy="864297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F6CDB80A-DC82-491C-A067-2BF012ECC950}"/>
              </a:ext>
            </a:extLst>
          </p:cNvPr>
          <p:cNvSpPr/>
          <p:nvPr/>
        </p:nvSpPr>
        <p:spPr>
          <a:xfrm>
            <a:off x="7516086" y="4011129"/>
            <a:ext cx="2983964" cy="864297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E70BD887-9E67-581F-E93C-6B5EA0A67423}"/>
              </a:ext>
            </a:extLst>
          </p:cNvPr>
          <p:cNvSpPr/>
          <p:nvPr/>
        </p:nvSpPr>
        <p:spPr>
          <a:xfrm>
            <a:off x="7516086" y="5042543"/>
            <a:ext cx="2983964" cy="864297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63846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F51A53-85EE-D02A-B8A2-7E52BB1B9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Hjorth Parameters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25E662-1A46-CCBC-4FF8-E54292751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Hjorth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参数是一组用于描述信号时域特征的统计量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包括活动度、移动性、复杂度。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>
              <a:lnSpc>
                <a:spcPct val="10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活动度（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Activity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）：表示信号的方差，即信号功率，反映信号的宽度。</a:t>
            </a:r>
          </a:p>
          <a:p>
            <a:pPr lvl="1">
              <a:lnSpc>
                <a:spcPct val="10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移动性（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Mobility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）：估计信号的平均频率，定义为信号一阶导数的标准差与信号本身标准差的比值。</a:t>
            </a:r>
          </a:p>
          <a:p>
            <a:pPr lvl="1">
              <a:lnSpc>
                <a:spcPct val="10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复杂度（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Complexity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）：估计信号的带宽，通过计算信号一阶导数相对于信号本身的移动性来确定。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应用：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EEG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信号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58669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2F29EDC-A1CB-2FCE-3FE1-CC87813FF4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3679" y="2523548"/>
            <a:ext cx="2914975" cy="3969327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26E2CDB0-B57D-D3A8-44AE-1230B3DC8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Fractal Dimension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B59AC54-A034-4D6C-7054-0B864F4A70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zh-CN" altLang="en-US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分形维度是描述分形几何复杂性的一个指标。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zh-CN" altLang="en-US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对于自相似的分形图形，分形维度可以通过以下公式计算：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𝐷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log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⁡(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𝑁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log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⁡(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𝑆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lvl="1">
                  <a:lnSpc>
                    <a:spcPct val="100000"/>
                  </a:lnSpc>
                </a:pP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N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是分形图形在每次迭代中生成的子部分的数量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lvl="1">
                  <a:lnSpc>
                    <a:spcPct val="100000"/>
                  </a:lnSpc>
                </a:pP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S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是每次迭代中图形的缩放比例。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B59AC54-A034-4D6C-7054-0B864F4A70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12" t="-15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8629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578</TotalTime>
  <Words>1354</Words>
  <Application>Microsoft Office PowerPoint</Application>
  <PresentationFormat>宽屏</PresentationFormat>
  <Paragraphs>149</Paragraphs>
  <Slides>20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Adobe 黑体 Std R</vt:lpstr>
      <vt:lpstr>等线</vt:lpstr>
      <vt:lpstr>等线 Light</vt:lpstr>
      <vt:lpstr>宋体</vt:lpstr>
      <vt:lpstr>Arial</vt:lpstr>
      <vt:lpstr>Cambria Math</vt:lpstr>
      <vt:lpstr>Times New Roman</vt:lpstr>
      <vt:lpstr>Office 主题​​</vt:lpstr>
      <vt:lpstr>信号分析与处理</vt:lpstr>
      <vt:lpstr>Canonical Correlation Analysis (CCA)</vt:lpstr>
      <vt:lpstr>Common Spatial Pattern (CSP)</vt:lpstr>
      <vt:lpstr>Z-Score Normalization</vt:lpstr>
      <vt:lpstr>Band Filter</vt:lpstr>
      <vt:lpstr>Notch Filter</vt:lpstr>
      <vt:lpstr>Median Filtering</vt:lpstr>
      <vt:lpstr>Polynomial Detrending</vt:lpstr>
      <vt:lpstr>Principal Component Analysis (PCA)</vt:lpstr>
      <vt:lpstr>Independent Component Analysis (ICA)</vt:lpstr>
      <vt:lpstr>Power Spectral Density (PSD)</vt:lpstr>
      <vt:lpstr>Differential Entropy (DE)</vt:lpstr>
      <vt:lpstr>direct Directed Transfer Function (dDTF)</vt:lpstr>
      <vt:lpstr>Empirical Mode Decomposition (EMD)</vt:lpstr>
      <vt:lpstr>Hilbert Huang Transform (HHT)</vt:lpstr>
      <vt:lpstr>EEG data processing</vt:lpstr>
      <vt:lpstr>PD data processing</vt:lpstr>
      <vt:lpstr>Other</vt:lpstr>
      <vt:lpstr>Hjorth Parameters</vt:lpstr>
      <vt:lpstr>Fractal Dimension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 NE</dc:creator>
  <cp:lastModifiedBy>Mingzhen Wen</cp:lastModifiedBy>
  <cp:revision>65</cp:revision>
  <dcterms:created xsi:type="dcterms:W3CDTF">2026-04-08T09:59:35Z</dcterms:created>
  <dcterms:modified xsi:type="dcterms:W3CDTF">2026-05-13T04:58:29Z</dcterms:modified>
</cp:coreProperties>
</file>