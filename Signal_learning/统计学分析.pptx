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8" r:id="rId2"/>
    <p:sldId id="256" r:id="rId3"/>
    <p:sldId id="270" r:id="rId4"/>
    <p:sldId id="267" r:id="rId5"/>
    <p:sldId id="268" r:id="rId6"/>
    <p:sldId id="257" r:id="rId7"/>
    <p:sldId id="264" r:id="rId8"/>
    <p:sldId id="266" r:id="rId9"/>
    <p:sldId id="258" r:id="rId10"/>
    <p:sldId id="263" r:id="rId11"/>
    <p:sldId id="262" r:id="rId12"/>
    <p:sldId id="261" r:id="rId13"/>
    <p:sldId id="265" r:id="rId14"/>
    <p:sldId id="259" r:id="rId15"/>
    <p:sldId id="271" r:id="rId16"/>
    <p:sldId id="260" r:id="rId17"/>
    <p:sldId id="272" r:id="rId18"/>
    <p:sldId id="274" r:id="rId19"/>
    <p:sldId id="279" r:id="rId20"/>
    <p:sldId id="286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82" autoAdjust="0"/>
    <p:restoredTop sz="86159" autoAdjust="0"/>
  </p:normalViewPr>
  <p:slideViewPr>
    <p:cSldViewPr snapToGrid="0">
      <p:cViewPr varScale="1">
        <p:scale>
          <a:sx n="67" d="100"/>
          <a:sy n="67" d="100"/>
        </p:scale>
        <p:origin x="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E6EFF-0D0D-45E6-9E7B-191C18F2B274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816D8-57D2-462E-AD4A-E08C07C4D3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87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显著性分析通常涉及假设检验，如</a:t>
            </a:r>
            <a:r>
              <a:rPr lang="en-US" altLang="zh-CN" dirty="0"/>
              <a:t>t</a:t>
            </a:r>
            <a:r>
              <a:rPr lang="zh-CN" altLang="en-US" dirty="0"/>
              <a:t>检验、</a:t>
            </a:r>
            <a:r>
              <a:rPr lang="en-US" altLang="zh-CN" dirty="0"/>
              <a:t>ANOVA</a:t>
            </a:r>
            <a:r>
              <a:rPr lang="zh-CN" altLang="en-US" dirty="0"/>
              <a:t>（方差分析）、卡方检验等。</a:t>
            </a:r>
            <a:endParaRPr lang="en-US" altLang="zh-CN" dirty="0"/>
          </a:p>
          <a:p>
            <a:r>
              <a:rPr lang="zh-CN" altLang="en-US" dirty="0"/>
              <a:t>其目的是确定观察到的差异或关联是否由随机因素引起，还是真实存在。</a:t>
            </a:r>
            <a:endParaRPr lang="en-US" altLang="zh-CN" dirty="0"/>
          </a:p>
          <a:p>
            <a:r>
              <a:rPr lang="zh-CN" altLang="en-US" dirty="0"/>
              <a:t>常见的输出包括</a:t>
            </a:r>
            <a:r>
              <a:rPr lang="en-US" altLang="zh-CN" dirty="0"/>
              <a:t>p</a:t>
            </a:r>
            <a:r>
              <a:rPr lang="zh-CN" altLang="en-US" dirty="0"/>
              <a:t>值，如果</a:t>
            </a:r>
            <a:r>
              <a:rPr lang="en-US" altLang="zh-CN" dirty="0"/>
              <a:t>p</a:t>
            </a:r>
            <a:r>
              <a:rPr lang="zh-CN" altLang="en-US" dirty="0"/>
              <a:t>值小于显著性水平（通常为</a:t>
            </a:r>
            <a:r>
              <a:rPr lang="en-US" altLang="zh-CN" dirty="0"/>
              <a:t>0.05</a:t>
            </a:r>
            <a:r>
              <a:rPr lang="zh-CN" altLang="en-US" dirty="0"/>
              <a:t>），则拒绝原假设，认为结果显著。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https://blog.csdn.net/taoy86/article/details/108786258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232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8173-BB9F-851B-0E7F-64B5727EB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BF35FD-17AF-3221-6BE8-D99C2B756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2FA476-13F2-C064-72F6-E52D02578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0819A8-E56A-9067-3442-941F30D11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76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精确率（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Precision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）：在我们预测为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的样本里面，有多少确实为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查准率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召回率（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Recall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）：</a:t>
            </a:r>
            <a:r>
              <a:rPr lang="zh-CN" altLang="en-US" dirty="0"/>
              <a:t>实际上为</a:t>
            </a:r>
            <a:r>
              <a:rPr lang="en-US" altLang="zh-CN" dirty="0"/>
              <a:t>True</a:t>
            </a:r>
            <a:r>
              <a:rPr lang="zh-CN" altLang="en-US" dirty="0"/>
              <a:t>的样本有多少被我们挑出来了（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查全率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曲线：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纵坐标为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positive rate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），也称为真正例率，表示真实样本的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 samples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中有多少被预测为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横坐标为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FPR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 positive rate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），也称为假正例率，表示真实样本的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 samples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中有多少被预测为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838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60F1-D7CC-EF28-9DA2-96C10CB5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1428141-B05E-9DA9-6449-5168261A9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8B0444-2383-5A58-39A2-CEC18D3CF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516C1-5F44-3D69-5522-114B0F0BD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35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</a:t>
            </a:r>
            <a:r>
              <a:rPr lang="zh-CN" altLang="en-US" dirty="0"/>
              <a:t>值校正：是指在多重假设检验中，为了避免因多次比较而增加犯第一类错误（假阳性，即错误地拒绝真正的零假设）的概率。</a:t>
            </a:r>
            <a:endParaRPr lang="en-US" altLang="zh-CN" dirty="0"/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控制住“在多次检验中至少出现一次错误”的总体风险</a:t>
            </a:r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FDR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False Discovery Rate)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：错误发现率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FWER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Family-wise error rate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）：族错误率（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FWER=1−(1−</a:t>
            </a:r>
            <a:r>
              <a:rPr lang="el-GR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α)^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955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一刀切：无论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值大小，全都乘以检验次数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816D8-57D2-462E-AD4A-E08C07C4D33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6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5A53B-BCEE-75A5-F073-C3E96A71D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FB2086-B873-56FF-A5A8-F260EFEF2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26CBE-7F04-0DDE-8B1F-819C6815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9D2D6-B49E-CE8D-A178-FA0D714C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DE434-2415-4E52-97F8-375E4467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07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68568-BF30-E7A8-1419-B3318497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1567C4-615C-DACF-5937-FE8EB1E2C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4D34F1-665C-9BDC-E628-0FE81ED8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A8538D-5B6D-514A-DCF1-F85047B83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34FCB4-EAF2-5F8F-1C35-479A435DC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09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7F404-0B02-C38A-7257-9FDC3CC8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993E17-C136-641C-D123-56F9A5153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9A489E-6C7B-E058-89F7-00FC8E64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9B694-A8AB-4987-DE3F-D25F3A36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C6DE03-FA61-11ED-E630-5FD3DC3F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0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EC995-76C5-EDF3-DD30-460B335F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A00793-196B-0048-8465-013F48AF3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3B40DF-6DDF-CA36-8F10-A789830B82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A0457F-7B8D-4BC9-E6AF-3C88BCA0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9EC226-396F-C1C9-1E6A-E6A3AC4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964FC-05CE-4F09-DAA7-375378AB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35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C4C66-CE62-968D-784D-9C73B53A4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2A4DA8-1396-7960-A0A1-BE893133B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A88563-582A-4EC9-2C83-0D6F8DD9F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E76293-CB01-B86A-AD77-DEBCF60A7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5CA879-0168-C971-8FDA-D1F11131C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0D0632-F834-1464-7CFD-88C8A49D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461C00-BCA6-3D37-9E31-530100BE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67B07C6-EFE4-908A-3EE5-17CBFD35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90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15B40-F7D5-9A13-3B24-EF740E75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2D9A61-0448-BEFA-FEDE-B3C3BAD5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A14EC0-9EBC-F802-2F85-FB1B8AA7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571536-F01C-EE0C-1EBC-4B4DC39D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22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8D20BB-CC20-3D9B-A8C3-6749B99A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264FD2-2699-67AF-514F-B7E7BD2A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29623-FE29-5602-0BB6-9A080353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083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B7E41-F4DE-7DC4-4E31-DDB5EC8A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DBA3A-2362-A482-CDE2-E852F0C51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6553D5-E1EF-9E34-86C4-A986AD25E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83780E-AA49-ECD9-5BA7-80AF48A99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F480D0-09A2-0E5B-AF2A-7CB3E852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6A884A-F826-E9BD-7D48-B40A39B5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833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84CA0-ABAA-3380-1976-DE873794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AC53C6C-6A1D-5012-95C5-2788648DF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68280B-9F31-021B-D53D-D52FE1DA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DD4FEE-49B2-FF40-CDF3-580F09F25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B96B9A-0297-6640-3604-646357902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D9368A-D34A-97CE-6558-8BA33727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01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96ECB-6DAA-3A1E-C40D-3AA0F4B0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C28831-7F93-17B4-DD2C-1AC91F04F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EB826-F642-1EE0-2A9A-6715CB3E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A1E2F5-E0CC-9E85-3135-DB8B3503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3C9207-EEBA-7FAD-38F4-52CC7D57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54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4E1973-A973-6ABC-06E3-6160A3E36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C5F20C-BA97-3572-A42C-CDD8A3E39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89FDD8-AFF5-2AE4-2E98-04FC3225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BC1A9-03C7-BB7D-4791-A601C554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4B21A8-6D70-682E-DC5E-F8255F94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34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A4E103-7687-EA99-6AF0-3006EF56F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1549C4-7F70-99D2-CD57-11DC1B27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C4E54A-6090-1B47-FF7E-92BE72D95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732D1-532E-4073-B205-DCE873E88B4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6F01C3-F705-58E3-9579-68588BF8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8CAF83-AEAB-57AC-92F0-BA04BE0B7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B743-018D-430E-B71B-93B886B106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4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01BD44E-B4FA-441D-7298-2F26C9B3D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统计学分析</a:t>
            </a:r>
          </a:p>
        </p:txBody>
      </p:sp>
    </p:spTree>
    <p:extLst>
      <p:ext uri="{BB962C8B-B14F-4D97-AF65-F5344CB8AC3E}">
        <p14:creationId xmlns:p14="http://schemas.microsoft.com/office/powerpoint/2010/main" val="2754967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F1A05-3961-2F21-A831-FF6B74E7F0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显著性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分析和 </a:t>
            </a:r>
            <a:r>
              <a:rPr lang="zh-CN" altLang="en-US" dirty="0">
                <a:solidFill>
                  <a:schemeClr val="accent2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相关性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54D5E5-7C39-8115-A998-5E65D0536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8980"/>
            <a:ext cx="9144000" cy="508819"/>
          </a:xfrm>
        </p:spPr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统计学</a:t>
            </a:r>
          </a:p>
        </p:txBody>
      </p:sp>
    </p:spTree>
    <p:extLst>
      <p:ext uri="{BB962C8B-B14F-4D97-AF65-F5344CB8AC3E}">
        <p14:creationId xmlns:p14="http://schemas.microsoft.com/office/powerpoint/2010/main" val="177696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E25DD5E-2BCF-7146-DE7B-6A0ED31083E4}"/>
              </a:ext>
            </a:extLst>
          </p:cNvPr>
          <p:cNvSpPr txBox="1"/>
          <p:nvPr/>
        </p:nvSpPr>
        <p:spPr>
          <a:xfrm>
            <a:off x="3438862" y="307505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二组类问题（二分类）</a:t>
            </a:r>
          </a:p>
        </p:txBody>
      </p:sp>
    </p:spTree>
    <p:extLst>
      <p:ext uri="{BB962C8B-B14F-4D97-AF65-F5344CB8AC3E}">
        <p14:creationId xmlns:p14="http://schemas.microsoft.com/office/powerpoint/2010/main" val="3923513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06D623CC-284E-4146-EA67-8CE400CC0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87" y="3717704"/>
            <a:ext cx="2520000" cy="115117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2A9DF5E-65A9-BDEC-25C4-3EB593EAE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608" y="2989087"/>
            <a:ext cx="2520000" cy="114896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7C54726-4347-AD83-5F24-8A5041C7C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608" y="4447916"/>
            <a:ext cx="2520000" cy="1153793"/>
          </a:xfrm>
          <a:prstGeom prst="rect">
            <a:avLst/>
          </a:prstGeom>
        </p:spPr>
      </p:pic>
      <p:sp>
        <p:nvSpPr>
          <p:cNvPr id="22" name="左大括号 21">
            <a:extLst>
              <a:ext uri="{FF2B5EF4-FFF2-40B4-BE49-F238E27FC236}">
                <a16:creationId xmlns:a16="http://schemas.microsoft.com/office/drawing/2014/main" id="{309C3776-A904-1B52-D195-1DA8368DAD85}"/>
              </a:ext>
            </a:extLst>
          </p:cNvPr>
          <p:cNvSpPr/>
          <p:nvPr/>
        </p:nvSpPr>
        <p:spPr>
          <a:xfrm>
            <a:off x="3391340" y="2815830"/>
            <a:ext cx="522454" cy="2942733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D17B342-BB78-BB97-5E22-956088F344C5}"/>
              </a:ext>
            </a:extLst>
          </p:cNvPr>
          <p:cNvSpPr txBox="1"/>
          <p:nvPr/>
        </p:nvSpPr>
        <p:spPr>
          <a:xfrm>
            <a:off x="7066167" y="3994810"/>
            <a:ext cx="827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Yes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91D53E-4486-C023-0CD3-BDD02DDA41DE}"/>
              </a:ext>
            </a:extLst>
          </p:cNvPr>
          <p:cNvSpPr txBox="1"/>
          <p:nvPr/>
        </p:nvSpPr>
        <p:spPr>
          <a:xfrm>
            <a:off x="7066167" y="2286625"/>
            <a:ext cx="716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No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E9D2B11-761B-3C6A-0064-58D64963F106}"/>
              </a:ext>
            </a:extLst>
          </p:cNvPr>
          <p:cNvSpPr txBox="1"/>
          <p:nvPr/>
        </p:nvSpPr>
        <p:spPr>
          <a:xfrm>
            <a:off x="7066167" y="5406393"/>
            <a:ext cx="716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No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361B79C-A183-8B8C-752C-7EF918F9B017}"/>
              </a:ext>
            </a:extLst>
          </p:cNvPr>
          <p:cNvSpPr txBox="1"/>
          <p:nvPr/>
        </p:nvSpPr>
        <p:spPr>
          <a:xfrm>
            <a:off x="8181207" y="4025587"/>
            <a:ext cx="29838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Student's  t </a:t>
            </a:r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D814C3E-C5E6-8212-3E52-D2E44764D14D}"/>
              </a:ext>
            </a:extLst>
          </p:cNvPr>
          <p:cNvSpPr txBox="1"/>
          <p:nvPr/>
        </p:nvSpPr>
        <p:spPr>
          <a:xfrm>
            <a:off x="8181205" y="5445150"/>
            <a:ext cx="2861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Welch's  t </a:t>
            </a:r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AC1E1BF-0D36-5CCB-E9A4-39777F23B0E7}"/>
              </a:ext>
            </a:extLst>
          </p:cNvPr>
          <p:cNvSpPr txBox="1"/>
          <p:nvPr/>
        </p:nvSpPr>
        <p:spPr>
          <a:xfrm>
            <a:off x="8181206" y="2348180"/>
            <a:ext cx="2861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曼</a:t>
            </a:r>
            <a:r>
              <a:rPr lang="en-US" altLang="zh-CN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</a:t>
            </a:r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惠特尼</a:t>
            </a:r>
            <a:r>
              <a:rPr lang="en-US" altLang="zh-CN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U</a:t>
            </a:r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21461505-D012-C302-0F83-41C9762E66F2}"/>
              </a:ext>
            </a:extLst>
          </p:cNvPr>
          <p:cNvSpPr/>
          <p:nvPr/>
        </p:nvSpPr>
        <p:spPr>
          <a:xfrm>
            <a:off x="6616608" y="3717704"/>
            <a:ext cx="449559" cy="2290162"/>
          </a:xfrm>
          <a:prstGeom prst="leftBrace">
            <a:avLst>
              <a:gd name="adj1" fmla="val 8333"/>
              <a:gd name="adj2" fmla="val 55710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E195FD2D-B5D5-AFCC-AA4B-E305C4AA838F}"/>
              </a:ext>
            </a:extLst>
          </p:cNvPr>
          <p:cNvSpPr/>
          <p:nvPr/>
        </p:nvSpPr>
        <p:spPr>
          <a:xfrm>
            <a:off x="6580160" y="2209770"/>
            <a:ext cx="522454" cy="2468006"/>
          </a:xfrm>
          <a:prstGeom prst="leftBrace">
            <a:avLst>
              <a:gd name="adj1" fmla="val 8333"/>
              <a:gd name="adj2" fmla="val 55710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0E120D16-85F5-8268-D0DC-3A2E38907C2B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V="1">
            <a:off x="3301276" y="933755"/>
            <a:ext cx="1669005" cy="2441660"/>
          </a:xfrm>
          <a:prstGeom prst="bentConnector4">
            <a:avLst>
              <a:gd name="adj1" fmla="val 25892"/>
              <a:gd name="adj2" fmla="val 10936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图片 66">
            <a:extLst>
              <a:ext uri="{FF2B5EF4-FFF2-40B4-BE49-F238E27FC236}">
                <a16:creationId xmlns:a16="http://schemas.microsoft.com/office/drawing/2014/main" id="{82F171E7-1087-60AB-8543-C14254D76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948" y="515340"/>
            <a:ext cx="4883319" cy="160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7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2EE7D2A-8D25-B17F-2550-31FF1BA12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9" y="2572489"/>
            <a:ext cx="2520000" cy="1156008"/>
          </a:xfrm>
          <a:prstGeom prst="rect">
            <a:avLst/>
          </a:prstGeom>
        </p:spPr>
      </p:pic>
      <p:sp>
        <p:nvSpPr>
          <p:cNvPr id="23" name="左大括号 22">
            <a:extLst>
              <a:ext uri="{FF2B5EF4-FFF2-40B4-BE49-F238E27FC236}">
                <a16:creationId xmlns:a16="http://schemas.microsoft.com/office/drawing/2014/main" id="{9CD2EEAB-7C73-6E90-8E35-98B4535DB9F2}"/>
              </a:ext>
            </a:extLst>
          </p:cNvPr>
          <p:cNvSpPr/>
          <p:nvPr/>
        </p:nvSpPr>
        <p:spPr>
          <a:xfrm>
            <a:off x="6677969" y="2057587"/>
            <a:ext cx="340965" cy="2178769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606B2F-29DA-E40C-F349-735BBE3C9B46}"/>
              </a:ext>
            </a:extLst>
          </p:cNvPr>
          <p:cNvSpPr txBox="1"/>
          <p:nvPr/>
        </p:nvSpPr>
        <p:spPr>
          <a:xfrm>
            <a:off x="7739996" y="2310878"/>
            <a:ext cx="3213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皮尔逊相关系数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D131CEDB-7EAC-58F8-2C87-4E9399BDB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220" y="2572489"/>
            <a:ext cx="2520000" cy="1148966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E432C19-DB6C-B630-C450-7A2E2831FC01}"/>
              </a:ext>
            </a:extLst>
          </p:cNvPr>
          <p:cNvCxnSpPr>
            <a:stCxn id="17" idx="3"/>
            <a:endCxn id="31" idx="1"/>
          </p:cNvCxnSpPr>
          <p:nvPr/>
        </p:nvCxnSpPr>
        <p:spPr>
          <a:xfrm flipV="1">
            <a:off x="3273619" y="3146972"/>
            <a:ext cx="782601" cy="35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28838AD-AACD-F499-FCDE-51E234B5BCB1}"/>
              </a:ext>
            </a:extLst>
          </p:cNvPr>
          <p:cNvSpPr txBox="1"/>
          <p:nvPr/>
        </p:nvSpPr>
        <p:spPr>
          <a:xfrm>
            <a:off x="7772556" y="3429000"/>
            <a:ext cx="3891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斯皮尔曼等级相关系数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AFD5F1-7259-39EE-0E54-228ABA694472}"/>
              </a:ext>
            </a:extLst>
          </p:cNvPr>
          <p:cNvSpPr txBox="1"/>
          <p:nvPr/>
        </p:nvSpPr>
        <p:spPr>
          <a:xfrm>
            <a:off x="6945085" y="2280100"/>
            <a:ext cx="827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Yes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791918-D566-D87F-7CB5-79F5269C673C}"/>
              </a:ext>
            </a:extLst>
          </p:cNvPr>
          <p:cNvSpPr txBox="1"/>
          <p:nvPr/>
        </p:nvSpPr>
        <p:spPr>
          <a:xfrm>
            <a:off x="6983294" y="3429000"/>
            <a:ext cx="716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No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428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4ED2F-39EF-72BF-CC5A-3DA8CC3D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7B5505-C3A1-C7B0-A500-AFB7569A62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原假设</a:t>
                </a:r>
                <a:r>
                  <a:rPr lang="en-US" altLang="zh-CN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[Ho]</a:t>
                </a: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：效应没有出现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备择假设</a:t>
                </a:r>
                <a:r>
                  <a:rPr lang="en-US" altLang="zh-CN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[Ha]</a:t>
                </a: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：（非此即彼）</a:t>
                </a:r>
                <a:endParaRPr lang="en-US" altLang="zh-CN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显著性水平：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  <a:ea typeface="Adobe 黑体 Std R" panose="020B0400000000000000" pitchFamily="34" charset="-122"/>
                      </a:rPr>
                      <m:t>𝜶</m:t>
                    </m:r>
                    <m:r>
                      <a:rPr lang="zh-CN" altLang="en-US" b="1" i="1">
                        <a:latin typeface="Cambria Math" panose="02040503050406030204" pitchFamily="18" charset="0"/>
                        <a:ea typeface="Adobe 黑体 Std R" panose="020B0400000000000000" pitchFamily="34" charset="-122"/>
                      </a:rPr>
                      <m:t>（</m:t>
                    </m:r>
                    <m:r>
                      <m:rPr>
                        <m:nor/>
                      </m:rPr>
                      <a:rPr lang="en-US" altLang="zh-CN" b="1" dirty="0" smtClean="0">
                        <a:latin typeface="Adobe 黑体 Std R" panose="020B0400000000000000" pitchFamily="34" charset="-122"/>
                        <a:ea typeface="Adobe 黑体 Std R" panose="020B0400000000000000" pitchFamily="34" charset="-122"/>
                      </a:rPr>
                      <m:t>1</m:t>
                    </m:r>
                    <m:r>
                      <m:rPr>
                        <m:nor/>
                      </m:rPr>
                      <a:rPr lang="zh-CN" altLang="en-US" b="1" dirty="0" smtClean="0">
                        <a:latin typeface="Adobe 黑体 Std R" panose="020B0400000000000000" pitchFamily="34" charset="-122"/>
                        <a:ea typeface="Adobe 黑体 Std R" panose="020B0400000000000000" pitchFamily="34" charset="-122"/>
                      </a:rPr>
                      <m:t>类错误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Adobe 黑体 Std R" panose="020B0400000000000000" pitchFamily="34" charset="-122"/>
                      </a:rPr>
                      <m:t>）</m:t>
                    </m:r>
                  </m:oMath>
                </a14:m>
                <a:r>
                  <a:rPr lang="en-US" altLang="zh-CN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 【0.05</a:t>
                </a:r>
                <a:r>
                  <a:rPr lang="zh-CN" altLang="en-US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、</a:t>
                </a:r>
                <a:r>
                  <a:rPr lang="en-US" altLang="zh-CN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0.01</a:t>
                </a:r>
                <a:r>
                  <a:rPr lang="zh-CN" altLang="en-US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、</a:t>
                </a:r>
                <a:r>
                  <a:rPr lang="en-US" altLang="zh-CN" b="1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0.001】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（统计者愿意接收</a:t>
                </a:r>
                <a:r>
                  <a:rPr lang="en-US" altLang="zh-CN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1</a:t>
                </a: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类错误的比率）</a:t>
                </a:r>
                <a:endParaRPr lang="en-US" altLang="zh-CN" b="1" dirty="0"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r>
                  <a:rPr lang="en-US" altLang="zh-CN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P-</a:t>
                </a:r>
                <a:r>
                  <a:rPr lang="zh-CN" altLang="en-US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值：</a:t>
                </a:r>
                <a:r>
                  <a:rPr lang="zh-CN" altLang="en-US" sz="2400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由于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偶然因素</a:t>
                </a:r>
                <a:r>
                  <a:rPr lang="zh-CN" altLang="en-US" sz="2400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或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随机抽样误差</a:t>
                </a:r>
                <a:r>
                  <a:rPr lang="zh-CN" altLang="en-US" sz="2400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致使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样本统计量取某值</a:t>
                </a:r>
                <a:r>
                  <a:rPr lang="zh-CN" altLang="en-US" sz="2400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的</a:t>
                </a:r>
                <a:r>
                  <a:rPr lang="zh-CN" altLang="en-US" sz="2400" dirty="0">
                    <a:highlight>
                      <a:srgbClr val="FFFF00"/>
                    </a:highlight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概率</a:t>
                </a:r>
                <a:endParaRPr lang="en-US" altLang="zh-CN" sz="2400" dirty="0">
                  <a:highlight>
                    <a:srgbClr val="FFFF00"/>
                  </a:highlight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latin typeface="Adobe 黑体 Std R" panose="020B0400000000000000" pitchFamily="34" charset="-122"/>
                    <a:ea typeface="Adobe 黑体 Std R" panose="020B0400000000000000" pitchFamily="34" charset="-122"/>
                  </a:rPr>
                  <a:t>--------------------------------------------------------------------------------------------</a:t>
                </a:r>
                <a:endParaRPr lang="en-US" altLang="zh-CN" sz="2400" dirty="0">
                  <a:highlight>
                    <a:srgbClr val="FFFF00"/>
                  </a:highlight>
                  <a:latin typeface="Adobe 黑体 Std R" panose="020B0400000000000000" pitchFamily="34" charset="-122"/>
                  <a:ea typeface="Adobe 黑体 Std R" panose="020B0400000000000000" pitchFamily="34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C7B5505-C3A1-C7B0-A500-AFB7569A6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14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627BA-46E9-4745-3B6C-E5CEA17C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正态性检验</a:t>
            </a:r>
            <a:endParaRPr lang="zh-CN" altLang="en-US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E063E8-B459-E02E-FE8A-56827BF10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Kolmogorov-Smirnov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检验（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K-S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检验）：</a:t>
            </a:r>
            <a:r>
              <a:rPr lang="en-US" altLang="zh-CN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n&gt;50</a:t>
            </a:r>
          </a:p>
          <a:p>
            <a:pPr marL="0" indent="0">
              <a:buNone/>
            </a:pP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（计算经验分布与理论分布的最大差异，适用于大样本，但对小样本敏感性较低。）</a:t>
            </a:r>
            <a:endParaRPr lang="en-US" altLang="zh-CN" sz="20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-----------------------------------------------------------------------------------</a:t>
            </a:r>
          </a:p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Shapiro-Wilk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检验：</a:t>
            </a:r>
            <a:r>
              <a:rPr lang="en-US" altLang="zh-CN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7&lt;n&lt;2000</a:t>
            </a:r>
          </a:p>
          <a:p>
            <a:pPr marL="0" indent="0">
              <a:buNone/>
            </a:pP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（最有效的小样本正态性检验方法）</a:t>
            </a:r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0B3BF2C6-677A-7231-9AE2-D9867A2A7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4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E1418-C27C-E322-12BC-D0BFB1E9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齐方差检验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3F3500-5C8A-4579-0E9D-89239C1E5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3280"/>
          </a:xfrm>
        </p:spPr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Levene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检验：没有正态性要求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-----------------------------------------------------------------------------------</a:t>
            </a:r>
          </a:p>
          <a:p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E1430BA3-A692-41B0-44BD-04018D03E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65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D2BDF-2543-645B-FCED-EEEE3475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Student's  t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F6D96-FAF1-553C-B769-69541CF4D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正态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性和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方差齐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性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：确定两个组之间的平均差异是否显著不同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------------------------------------------------------------------------------------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独立样本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T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检验：比较两个不相关组的平均值。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配对样本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T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检验：比较同一组在不同时间点的平均值。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单样本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T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检验：将特定组的平均值与已知平均值进行比较。</a:t>
            </a:r>
          </a:p>
          <a:p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CC82FFF6-0B7D-E4E0-6AC4-A9A741518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68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4C0E5-AA8A-67C1-4DDF-44E4DF42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Welch's  t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43134-CBCC-0B2B-140C-FE51CFDA6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6749"/>
          </a:xfrm>
        </p:spPr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正态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性、样本独立性、样本量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(n&gt;30)</a:t>
            </a: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：专门用于处理两组样本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方差不相等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的情况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  <a:p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C508DA88-49BF-E6F6-85B2-5016787A6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223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78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C60-C60D-642E-68F8-AFCCFB45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BAFD85-AD42-26DC-9333-B9B944F6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曼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惠特尼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U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56AB5-63BA-CFA0-ED07-F63DE947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sz="2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用于评估两个独立组之间差异的检验，如果你的数据不符合正态分布。</a:t>
            </a:r>
            <a:endParaRPr lang="en-US" altLang="zh-CN" sz="20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(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当数据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不符合正态性假设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时，它是</a:t>
            </a:r>
            <a:r>
              <a:rPr lang="en-US" altLang="zh-CN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T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检验的替代方法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。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(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曼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惠特尼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U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统计量是基于合并数据集中数据的秩计算的。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)</a:t>
            </a: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</p:txBody>
      </p:sp>
      <p:pic>
        <p:nvPicPr>
          <p:cNvPr id="5" name="图形 4" descr="火 纯色填充">
            <a:extLst>
              <a:ext uri="{FF2B5EF4-FFF2-40B4-BE49-F238E27FC236}">
                <a16:creationId xmlns:a16="http://schemas.microsoft.com/office/drawing/2014/main" id="{706EF8A6-5A07-F9F8-91D1-4D868B7083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62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99500-E2E2-ABD3-3127-4151E4427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47A68-64A9-7687-2525-5D79D07D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皮尔逊相关系数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17734-796B-6FDF-F811-43A7BE83E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连续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数据，且数据服从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正态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分布或接近正态分布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：评估两个连续变量之间的线性关联。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	(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它产生一个介于</a:t>
            </a:r>
            <a:r>
              <a:rPr lang="en-US" altLang="zh-CN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-1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和</a:t>
            </a:r>
            <a:r>
              <a:rPr lang="en-US" altLang="zh-CN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1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之间的值，表示关联的强度和方向。</a:t>
            </a:r>
            <a:r>
              <a:rPr lang="en-US" altLang="zh-CN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)</a:t>
            </a: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723D5259-7A2C-7A52-D3F3-7979556B9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9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B9827-641E-C34C-4621-6C726E04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斯皮尔曼等级相关系数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592298-0455-C37C-FC9E-08A9F5969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不需要满足正态分布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，只需满足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单调关系</a:t>
            </a:r>
            <a:endParaRPr lang="en-US" altLang="zh-CN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		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（连续变量或定序数据）</a:t>
            </a:r>
            <a:endParaRPr lang="en-US" altLang="zh-CN" dirty="0">
              <a:solidFill>
                <a:srgbClr val="FF0000"/>
              </a:solidFill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用于衡量两个变量之间的单调关系，即变量的变化趋势是否一致。</a:t>
            </a:r>
            <a:endParaRPr lang="en-US" altLang="zh-CN" sz="24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（其值范围同样为</a:t>
            </a:r>
            <a:r>
              <a:rPr lang="en-US" altLang="zh-CN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[-1, 1]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，但对数据的分布要求较低。）</a:t>
            </a:r>
            <a:endParaRPr lang="en-US" altLang="zh-CN" sz="24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  <a:p>
            <a:pPr marL="0" indent="0">
              <a:buNone/>
            </a:pPr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pic>
        <p:nvPicPr>
          <p:cNvPr id="4" name="图形 3" descr="火 纯色填充">
            <a:extLst>
              <a:ext uri="{FF2B5EF4-FFF2-40B4-BE49-F238E27FC236}">
                <a16:creationId xmlns:a16="http://schemas.microsoft.com/office/drawing/2014/main" id="{FB8BE1F5-0DCC-2ABF-6C97-233ED8DA39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6600" y="57197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5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2F86B-6381-F189-2F52-58F80F66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卡方检验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C7B1C-0212-D859-923E-B8D5143DA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：确定两种数据类型之间是否存在强烈的关联性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独立性卡方检验：旨在确定两个分类变量是否独立。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拟合优度卡方检验：旨在确定样本分布是否与总体分布相匹配。</a:t>
            </a:r>
          </a:p>
        </p:txBody>
      </p:sp>
    </p:spTree>
    <p:extLst>
      <p:ext uri="{BB962C8B-B14F-4D97-AF65-F5344CB8AC3E}">
        <p14:creationId xmlns:p14="http://schemas.microsoft.com/office/powerpoint/2010/main" val="1695755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6B40D-3F9D-A908-C58A-E05124F0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EDACEA6-9811-2985-CB6B-34785073EF7C}"/>
              </a:ext>
            </a:extLst>
          </p:cNvPr>
          <p:cNvSpPr txBox="1"/>
          <p:nvPr/>
        </p:nvSpPr>
        <p:spPr>
          <a:xfrm>
            <a:off x="3438862" y="3075057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多组类问题（多分类）</a:t>
            </a:r>
          </a:p>
        </p:txBody>
      </p:sp>
    </p:spTree>
    <p:extLst>
      <p:ext uri="{BB962C8B-B14F-4D97-AF65-F5344CB8AC3E}">
        <p14:creationId xmlns:p14="http://schemas.microsoft.com/office/powerpoint/2010/main" val="95596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7F21F-3076-6813-6393-75FDAA0F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12094-C86A-AC01-7C9A-3E7948EB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方差分析（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ANOVA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80B7C-5B95-5AF9-9780-D6A8A19F5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连续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型、可量化、近似正态分布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(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正态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性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)</a:t>
            </a: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：用于比较三组及以上数据均值是否存在显著差异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----------------------------------------------------------------------------------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一元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ANOVA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比较具有三个或更多水平（组）的一个自变量的平均值。</a:t>
            </a:r>
          </a:p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二元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ANOVA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：考虑两个自变量比较平均值。</a:t>
            </a:r>
          </a:p>
          <a:p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重复测量</a:t>
            </a:r>
            <a:r>
              <a:rPr lang="en-US" altLang="zh-CN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ANOVA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：当所有组都使用相同的受试者时使用。</a:t>
            </a:r>
          </a:p>
        </p:txBody>
      </p:sp>
    </p:spTree>
    <p:extLst>
      <p:ext uri="{BB962C8B-B14F-4D97-AF65-F5344CB8AC3E}">
        <p14:creationId xmlns:p14="http://schemas.microsoft.com/office/powerpoint/2010/main" val="134480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BA887-3940-8DE9-8E81-5485434C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Kruskal - Wallis H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387BC-70CA-DC70-B16C-3E626F313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满足条件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：适用于</a:t>
            </a:r>
            <a:r>
              <a:rPr lang="zh-CN" altLang="en-US" dirty="0">
                <a:solidFill>
                  <a:srgbClr val="FF000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非正态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分布数据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(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非参数检验</a:t>
            </a: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)</a:t>
            </a: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应用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endParaRPr lang="en-US" altLang="zh-CN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原理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：</a:t>
            </a:r>
            <a:r>
              <a:rPr lang="zh-CN" altLang="en-US" sz="2400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将所有观测值按照大小排序后赋予秩次，然后计算各组的平均秩次。</a:t>
            </a:r>
            <a:endParaRPr lang="en-US" altLang="zh-CN" sz="24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endParaRPr lang="en-US" altLang="zh-CN" sz="2400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 ----------------------------------------------------------------------------------</a:t>
            </a:r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863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9EF2-7704-5856-B169-3908E1F9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EE73E-4E20-DB1E-76E0-FFB267384C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6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特征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387DA5-2C5A-404C-C42B-D108A759D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8980"/>
            <a:ext cx="9144000" cy="508819"/>
          </a:xfrm>
        </p:spPr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机器学习</a:t>
            </a:r>
          </a:p>
        </p:txBody>
      </p:sp>
    </p:spTree>
    <p:extLst>
      <p:ext uri="{BB962C8B-B14F-4D97-AF65-F5344CB8AC3E}">
        <p14:creationId xmlns:p14="http://schemas.microsoft.com/office/powerpoint/2010/main" val="334692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189B1-B840-F24F-69FA-ACE20B86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81934" cy="1325563"/>
          </a:xfrm>
        </p:spPr>
        <p:txBody>
          <a:bodyPr/>
          <a:lstStyle/>
          <a:p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机器学习评价指标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7E9766-6AD6-F24D-741F-63ABC9C1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1934" cy="4351338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准确率（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Accuracy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精确率（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Precision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召回率（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Recall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F1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分数（调和平均）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-----------------------------------------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曲线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AUC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ROC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曲线下面积）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E49C33-E6D4-31A7-BC8A-CA2070397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45" b="20897"/>
          <a:stretch>
            <a:fillRect/>
          </a:stretch>
        </p:blipFill>
        <p:spPr>
          <a:xfrm>
            <a:off x="6894762" y="570706"/>
            <a:ext cx="3730322" cy="16589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011E96-DEC1-884B-CB7C-54DF95E12423}"/>
                  </a:ext>
                </a:extLst>
              </p:cNvPr>
              <p:cNvSpPr txBox="1"/>
              <p:nvPr/>
            </p:nvSpPr>
            <p:spPr>
              <a:xfrm>
                <a:off x="6975313" y="2628143"/>
                <a:ext cx="3360792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011E96-DEC1-884B-CB7C-54DF95E12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313" y="2628143"/>
                <a:ext cx="3360792" cy="523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4F5B71-76C4-62EC-567B-11023A236880}"/>
                  </a:ext>
                </a:extLst>
              </p:cNvPr>
              <p:cNvSpPr txBox="1"/>
              <p:nvPr/>
            </p:nvSpPr>
            <p:spPr>
              <a:xfrm>
                <a:off x="6975313" y="3429000"/>
                <a:ext cx="2201757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B4F5B71-76C4-62EC-567B-11023A236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313" y="3429000"/>
                <a:ext cx="2201757" cy="5231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97F40E4-4631-6360-CCDF-C79A906F364F}"/>
                  </a:ext>
                </a:extLst>
              </p:cNvPr>
              <p:cNvSpPr txBox="1"/>
              <p:nvPr/>
            </p:nvSpPr>
            <p:spPr>
              <a:xfrm>
                <a:off x="6975313" y="4081821"/>
                <a:ext cx="1887696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97F40E4-4631-6360-CCDF-C79A906F3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313" y="4081821"/>
                <a:ext cx="1887696" cy="5231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55B7A2E-8377-0F78-1146-947C3637C06F}"/>
                  </a:ext>
                </a:extLst>
              </p:cNvPr>
              <p:cNvSpPr txBox="1"/>
              <p:nvPr/>
            </p:nvSpPr>
            <p:spPr>
              <a:xfrm>
                <a:off x="6975313" y="4864459"/>
                <a:ext cx="2938368" cy="5305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1=2×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55B7A2E-8377-0F78-1146-947C3637C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313" y="4864459"/>
                <a:ext cx="2938368" cy="5305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0559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8787D-F7CB-D439-0796-DB08B94C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FB8B6-6946-E83A-6058-2094E57C93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6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P</a:t>
            </a:r>
            <a:r>
              <a:rPr lang="zh-CN" altLang="en-US" dirty="0">
                <a:solidFill>
                  <a:schemeClr val="accent6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值 </a:t>
            </a:r>
            <a:r>
              <a:rPr lang="zh-CN" altLang="en-US" dirty="0">
                <a:solidFill>
                  <a:srgbClr val="7030A0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校正</a:t>
            </a:r>
          </a:p>
        </p:txBody>
      </p:sp>
    </p:spTree>
    <p:extLst>
      <p:ext uri="{BB962C8B-B14F-4D97-AF65-F5344CB8AC3E}">
        <p14:creationId xmlns:p14="http://schemas.microsoft.com/office/powerpoint/2010/main" val="2265893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左大括号 13">
            <a:extLst>
              <a:ext uri="{FF2B5EF4-FFF2-40B4-BE49-F238E27FC236}">
                <a16:creationId xmlns:a16="http://schemas.microsoft.com/office/drawing/2014/main" id="{98F26D99-9F78-FC9E-16CD-9D23999CD6E6}"/>
              </a:ext>
            </a:extLst>
          </p:cNvPr>
          <p:cNvSpPr/>
          <p:nvPr/>
        </p:nvSpPr>
        <p:spPr>
          <a:xfrm>
            <a:off x="4692898" y="685581"/>
            <a:ext cx="461964" cy="2257985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A324DB-AB4B-70BE-60D0-5157A2691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907" y="1405581"/>
            <a:ext cx="2637583" cy="75231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F159BB-5D99-1B44-1B5F-71B4D8F24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862" y="4330121"/>
            <a:ext cx="1525713" cy="72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8D2AD8F-20A7-50A0-AC30-C3D927EAB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862" y="3476065"/>
            <a:ext cx="2108264" cy="72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C692F11-F464-CF20-D845-E1CC730A2A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4862" y="5184177"/>
            <a:ext cx="3257141" cy="720000"/>
          </a:xfrm>
          <a:prstGeom prst="rect">
            <a:avLst/>
          </a:prstGeom>
        </p:spPr>
      </p:pic>
      <p:sp>
        <p:nvSpPr>
          <p:cNvPr id="19" name="左大括号 18">
            <a:extLst>
              <a:ext uri="{FF2B5EF4-FFF2-40B4-BE49-F238E27FC236}">
                <a16:creationId xmlns:a16="http://schemas.microsoft.com/office/drawing/2014/main" id="{8D092869-6765-61A1-7DA9-836FC3F95A86}"/>
              </a:ext>
            </a:extLst>
          </p:cNvPr>
          <p:cNvSpPr/>
          <p:nvPr/>
        </p:nvSpPr>
        <p:spPr>
          <a:xfrm>
            <a:off x="4704490" y="3352599"/>
            <a:ext cx="461964" cy="2695014"/>
          </a:xfrm>
          <a:prstGeom prst="leftBrac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56C70464-B979-389A-1F5D-56791BF0920D}"/>
              </a:ext>
            </a:extLst>
          </p:cNvPr>
          <p:cNvCxnSpPr>
            <a:stCxn id="4" idx="2"/>
            <a:endCxn id="19" idx="1"/>
          </p:cNvCxnSpPr>
          <p:nvPr/>
        </p:nvCxnSpPr>
        <p:spPr>
          <a:xfrm rot="16200000" flipH="1">
            <a:off x="2773990" y="2769605"/>
            <a:ext cx="2542209" cy="13187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7CC0A4E4-436C-C3A8-610A-7B172B6929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381" y="1892025"/>
            <a:ext cx="3182388" cy="871804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A7B55910-C583-C607-6EFD-5A5BA13AD2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9381" y="842988"/>
            <a:ext cx="3182388" cy="8779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A81F9D2B-18B1-A357-96A6-026818D0EFE6}"/>
              </a:ext>
            </a:extLst>
          </p:cNvPr>
          <p:cNvSpPr txBox="1"/>
          <p:nvPr/>
        </p:nvSpPr>
        <p:spPr>
          <a:xfrm>
            <a:off x="3475503" y="4320789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P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值校正</a:t>
            </a:r>
          </a:p>
        </p:txBody>
      </p:sp>
    </p:spTree>
    <p:extLst>
      <p:ext uri="{BB962C8B-B14F-4D97-AF65-F5344CB8AC3E}">
        <p14:creationId xmlns:p14="http://schemas.microsoft.com/office/powerpoint/2010/main" val="3874434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A5AEE6-372A-B856-3751-EB751CE5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Bonferroni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校正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DA0838-EE71-169F-3E72-406352785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控制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FWER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（至少出现一次假阳性的概率）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新阈值：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α / m = 0.05 / 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（静态阈值）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容易漏掉真实差异</a:t>
            </a:r>
          </a:p>
        </p:txBody>
      </p:sp>
    </p:spTree>
    <p:extLst>
      <p:ext uri="{BB962C8B-B14F-4D97-AF65-F5344CB8AC3E}">
        <p14:creationId xmlns:p14="http://schemas.microsoft.com/office/powerpoint/2010/main" val="2199739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04077-D94F-0549-793B-A3AE0CFF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9B171-DC93-F44E-7E23-5FF3C393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Holm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校正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C96D95-9ABB-7082-30EC-65035A12F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控制 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FWER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（动态</a:t>
                </a:r>
                <a:r>
                  <a:rPr lang="zh-CN" altLang="en-US">
                    <a:latin typeface="Times New Roman" panose="02020603050405020304" pitchFamily="18" charset="0"/>
                    <a:ea typeface="宋体" panose="02010600030101010101" pitchFamily="2" charset="-122"/>
                  </a:rPr>
                  <a:t>、逐步）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先将 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 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值从小到大排序，然后依次检查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≤</m:t>
                    </m:r>
                    <m:r>
                      <a:rPr lang="el-GR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  <m:r>
                      <a:rPr lang="el-GR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+1)</m:t>
                    </m:r>
                  </m:oMath>
                </a14:m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一旦出现不显著，后面所有的检验自动停止，均判定为不显著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比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Bonferroni 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更容易发现真实差异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C96D95-9ABB-7082-30EC-65035A12F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112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D1DD-6264-56F5-D5E5-A32D53DB0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1ED30-EBBF-0825-1F3E-172BC136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Benjamini-Hochberg </a:t>
            </a:r>
            <a:r>
              <a:rPr lang="zh-CN" altLang="en-US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校正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579E7C-2614-0DF8-18C6-E72134546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控制“错误发现率 ”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(FDR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False Discovery Rate)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步骤：</a:t>
                </a:r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FDR 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水平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q = 0.05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（你接受所有显著结果中，假阳性比例不超过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5%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endPara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将所有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 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值从小到大排序：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8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P</m:t>
                    </m:r>
                    <m:r>
                      <m:rPr>
                        <m:nor/>
                      </m:rPr>
                      <a:rPr lang="en-US" altLang="zh-CN" sz="18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₁ ≤ </m:t>
                    </m:r>
                    <m:r>
                      <m:rPr>
                        <m:nor/>
                      </m:rPr>
                      <a:rPr lang="en-US" altLang="zh-CN" sz="18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P</m:t>
                    </m:r>
                    <m:r>
                      <m:rPr>
                        <m:nor/>
                      </m:rPr>
                      <a:rPr lang="en-US" altLang="zh-CN" sz="1800" dirty="0">
                        <a:latin typeface="Times New Roman" panose="02020603050405020304" pitchFamily="18" charset="0"/>
                        <a:ea typeface="宋体" panose="02010600030101010101" pitchFamily="2" charset="-122"/>
                      </a:rPr>
                      <m:t>₂ ≤ ... ≤ </m:t>
                    </m:r>
                    <m:sSub>
                      <m:sSubPr>
                        <m:ctrlPr>
                          <a:rPr lang="en-US" altLang="zh-CN" sz="180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n</m:t>
                        </m:r>
                      </m:sub>
                    </m:sSub>
                  </m:oMath>
                </a14:m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从最大的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 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值（</a:t>
                </a:r>
                <a:r>
                  <a:rPr lang="en-US" altLang="zh-CN" sz="1800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=n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）开始，向前寻找最大的 </a:t>
                </a:r>
                <a:r>
                  <a:rPr lang="en-US" altLang="zh-CN" sz="1800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，使得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Pᵢ ≤ (</a:t>
                </a:r>
                <a:r>
                  <a:rPr lang="en-US" altLang="zh-CN" sz="1800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/ m) × q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</a:p>
              <a:p>
                <a:pPr marL="800100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一旦找到这个 “最大显著索引”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，就宣布 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P₁, P₂, ..., Pₖ 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全部显著。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B579E7C-2614-0DF8-18C6-E72134546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440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1153</Words>
  <Application>Microsoft Office PowerPoint</Application>
  <PresentationFormat>宽屏</PresentationFormat>
  <Paragraphs>137</Paragraphs>
  <Slides>24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Adobe 黑体 Std R</vt:lpstr>
      <vt:lpstr>等线</vt:lpstr>
      <vt:lpstr>等线 Light</vt:lpstr>
      <vt:lpstr>Arial</vt:lpstr>
      <vt:lpstr>Cambria Math</vt:lpstr>
      <vt:lpstr>Times New Roman</vt:lpstr>
      <vt:lpstr>Office 主题​​</vt:lpstr>
      <vt:lpstr>统计学分析</vt:lpstr>
      <vt:lpstr>显著性 分析和 相关性 分析</vt:lpstr>
      <vt:lpstr>PowerPoint 演示文稿</vt:lpstr>
      <vt:lpstr>PowerPoint 演示文稿</vt:lpstr>
      <vt:lpstr>PowerPoint 演示文稿</vt:lpstr>
      <vt:lpstr>假设检验</vt:lpstr>
      <vt:lpstr>正态性检验</vt:lpstr>
      <vt:lpstr>齐方差检验</vt:lpstr>
      <vt:lpstr>Student's  t 检验</vt:lpstr>
      <vt:lpstr>Welch's  t 检验</vt:lpstr>
      <vt:lpstr>曼-惠特尼U检验</vt:lpstr>
      <vt:lpstr>皮尔逊相关系数</vt:lpstr>
      <vt:lpstr>斯皮尔曼等级相关系数</vt:lpstr>
      <vt:lpstr>卡方检验</vt:lpstr>
      <vt:lpstr>PowerPoint 演示文稿</vt:lpstr>
      <vt:lpstr>方差分析（ANOVA）</vt:lpstr>
      <vt:lpstr>Kruskal - Wallis H检验</vt:lpstr>
      <vt:lpstr>特征 分析</vt:lpstr>
      <vt:lpstr>机器学习评价指标</vt:lpstr>
      <vt:lpstr>P值 校正</vt:lpstr>
      <vt:lpstr>PowerPoint 演示文稿</vt:lpstr>
      <vt:lpstr>Bonferroni 校正</vt:lpstr>
      <vt:lpstr>Holm 校正</vt:lpstr>
      <vt:lpstr>Benjamini-Hochberg 校正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 NE</dc:creator>
  <cp:lastModifiedBy>Mingzhen Wen</cp:lastModifiedBy>
  <cp:revision>39</cp:revision>
  <dcterms:created xsi:type="dcterms:W3CDTF">2026-03-17T07:08:47Z</dcterms:created>
  <dcterms:modified xsi:type="dcterms:W3CDTF">2026-06-01T07:54:24Z</dcterms:modified>
</cp:coreProperties>
</file>